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36" y="5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ACCBD-BDF3-4385-BBC8-015538C196D2}" type="datetimeFigureOut">
              <a:rPr lang="ko-KR" altLang="en-US" smtClean="0"/>
              <a:t>2026-04-22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2AFCDD-6828-4332-A4E0-E2BE46B5E0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9539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AFCDD-6828-4332-A4E0-E2BE46B5E0A3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711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64008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>
                <a:solidFill>
                  <a:srgbClr val="24D2FF"/>
                </a:solidFill>
                <a:latin typeface="Malgun Gothic"/>
              </a:rPr>
              <a:t>PLT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39" y="195589"/>
            <a:ext cx="108136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5F8FC"/>
                </a:solidFill>
                <a:latin typeface="Malgun Gothic"/>
              </a:rPr>
              <a:t>Production Line Transform Monitoring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50678"/>
            <a:ext cx="935736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dirty="0" err="1">
                <a:solidFill>
                  <a:srgbClr val="BEC9D6"/>
                </a:solidFill>
                <a:latin typeface="Malgun Gothic"/>
              </a:rPr>
              <a:t>생산</a:t>
            </a:r>
            <a:r>
              <a:rPr lang="ko-KR" altLang="en-US" sz="1800" b="1" dirty="0">
                <a:solidFill>
                  <a:srgbClr val="BEC9D6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BEC9D6"/>
                </a:solidFill>
                <a:latin typeface="Malgun Gothic"/>
              </a:rPr>
              <a:t>라인</a:t>
            </a:r>
            <a:r>
              <a:rPr sz="1800" b="1" dirty="0">
                <a:solidFill>
                  <a:srgbClr val="BEC9D6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BEC9D6"/>
                </a:solidFill>
                <a:latin typeface="Malgun Gothic"/>
              </a:rPr>
              <a:t>오브젝트</a:t>
            </a:r>
            <a:r>
              <a:rPr sz="1800" b="1" dirty="0">
                <a:solidFill>
                  <a:srgbClr val="BEC9D6"/>
                </a:solidFill>
                <a:latin typeface="Malgun Gothic"/>
              </a:rPr>
              <a:t> Transform </a:t>
            </a:r>
            <a:r>
              <a:rPr sz="1800" b="1" dirty="0" err="1">
                <a:solidFill>
                  <a:srgbClr val="BEC9D6"/>
                </a:solidFill>
                <a:latin typeface="Malgun Gothic"/>
              </a:rPr>
              <a:t>데이터</a:t>
            </a:r>
            <a:r>
              <a:rPr sz="1800" b="1" dirty="0">
                <a:solidFill>
                  <a:srgbClr val="BEC9D6"/>
                </a:solidFill>
                <a:latin typeface="Malgun Gothic"/>
              </a:rPr>
              <a:t>
</a:t>
            </a:r>
            <a:r>
              <a:rPr sz="1800" b="1" dirty="0" err="1">
                <a:solidFill>
                  <a:srgbClr val="BEC9D6"/>
                </a:solidFill>
                <a:latin typeface="Malgun Gothic"/>
              </a:rPr>
              <a:t>실시간</a:t>
            </a:r>
            <a:r>
              <a:rPr sz="1800" b="1" dirty="0">
                <a:solidFill>
                  <a:srgbClr val="BEC9D6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BEC9D6"/>
                </a:solidFill>
                <a:latin typeface="Malgun Gothic"/>
              </a:rPr>
              <a:t>기록·시각화·저장하는</a:t>
            </a:r>
            <a:r>
              <a:rPr sz="1800" b="1" dirty="0">
                <a:solidFill>
                  <a:srgbClr val="BEC9D6"/>
                </a:solidFill>
                <a:latin typeface="Malgun Gothic"/>
              </a:rPr>
              <a:t> Unity </a:t>
            </a:r>
            <a:r>
              <a:rPr sz="1800" b="1" dirty="0" err="1">
                <a:solidFill>
                  <a:srgbClr val="BEC9D6"/>
                </a:solidFill>
                <a:latin typeface="Malgun Gothic"/>
              </a:rPr>
              <a:t>기반</a:t>
            </a:r>
            <a:r>
              <a:rPr sz="1800" b="1" dirty="0">
                <a:solidFill>
                  <a:srgbClr val="BEC9D6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BEC9D6"/>
                </a:solidFill>
                <a:latin typeface="Malgun Gothic"/>
              </a:rPr>
              <a:t>모니터링</a:t>
            </a:r>
            <a:r>
              <a:rPr sz="1800" b="1" dirty="0">
                <a:solidFill>
                  <a:srgbClr val="BEC9D6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BEC9D6"/>
                </a:solidFill>
                <a:latin typeface="Malgun Gothic"/>
              </a:rPr>
              <a:t>시스템</a:t>
            </a:r>
            <a:endParaRPr sz="1800" b="1" dirty="0">
              <a:solidFill>
                <a:srgbClr val="BEC9D6"/>
              </a:solidFill>
              <a:latin typeface="Malgun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005BB3-69F9-1AD5-2551-FCCD72464B0B}"/>
              </a:ext>
            </a:extLst>
          </p:cNvPr>
          <p:cNvSpPr txBox="1"/>
          <p:nvPr/>
        </p:nvSpPr>
        <p:spPr>
          <a:xfrm>
            <a:off x="11434694" y="228600"/>
            <a:ext cx="26962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200" dirty="0">
                <a:solidFill>
                  <a:srgbClr val="BEC9D6"/>
                </a:solidFill>
                <a:latin typeface="Malgun Gothic"/>
              </a:rPr>
              <a:t>1</a:t>
            </a:r>
            <a:endParaRPr sz="1200" dirty="0">
              <a:solidFill>
                <a:srgbClr val="BEC9D6"/>
              </a:solidFill>
              <a:latin typeface="Malgun Gothic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C442C8-3D1C-8ED8-BB93-AB590BCBF149}"/>
              </a:ext>
            </a:extLst>
          </p:cNvPr>
          <p:cNvSpPr txBox="1"/>
          <p:nvPr/>
        </p:nvSpPr>
        <p:spPr>
          <a:xfrm>
            <a:off x="8658477" y="6046858"/>
            <a:ext cx="378437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400" b="1" dirty="0">
                <a:solidFill>
                  <a:srgbClr val="24D2FF"/>
                </a:solidFill>
                <a:latin typeface="Malgun Gothic"/>
              </a:rPr>
              <a:t>제출자</a:t>
            </a:r>
            <a:r>
              <a:rPr lang="en-US" altLang="ko-KR" sz="3400" b="1" dirty="0">
                <a:solidFill>
                  <a:srgbClr val="24D2FF"/>
                </a:solidFill>
                <a:latin typeface="Malgun Gothic"/>
              </a:rPr>
              <a:t>: </a:t>
            </a:r>
            <a:r>
              <a:rPr lang="ko-KR" altLang="en-US" sz="3400" b="1" dirty="0">
                <a:solidFill>
                  <a:srgbClr val="24D2FF"/>
                </a:solidFill>
                <a:latin typeface="Malgun Gothic"/>
              </a:rPr>
              <a:t>김 성 엽</a:t>
            </a:r>
            <a:endParaRPr sz="3400" b="1" dirty="0">
              <a:solidFill>
                <a:srgbClr val="24D2FF"/>
              </a:solidFill>
              <a:latin typeface="Malgun Gothic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5F512D8-6BA7-D184-A70E-349C82FCEDDC}"/>
              </a:ext>
            </a:extLst>
          </p:cNvPr>
          <p:cNvGrpSpPr/>
          <p:nvPr/>
        </p:nvGrpSpPr>
        <p:grpSpPr>
          <a:xfrm>
            <a:off x="996452" y="3040758"/>
            <a:ext cx="3274199" cy="1492495"/>
            <a:chOff x="713231" y="3147963"/>
            <a:chExt cx="3274199" cy="1492495"/>
          </a:xfrm>
        </p:grpSpPr>
        <p:sp>
          <p:nvSpPr>
            <p:cNvPr id="40" name="Shape 82">
              <a:extLst>
                <a:ext uri="{FF2B5EF4-FFF2-40B4-BE49-F238E27FC236}">
                  <a16:creationId xmlns:a16="http://schemas.microsoft.com/office/drawing/2014/main" id="{7166C362-3E5B-A956-2832-E584BA8C2405}"/>
                </a:ext>
              </a:extLst>
            </p:cNvPr>
            <p:cNvSpPr/>
            <p:nvPr/>
          </p:nvSpPr>
          <p:spPr>
            <a:xfrm>
              <a:off x="713231" y="3147963"/>
              <a:ext cx="3274199" cy="1492495"/>
            </a:xfrm>
            <a:prstGeom prst="roundRect">
              <a:avLst>
                <a:gd name="adj" fmla="val 6667"/>
              </a:avLst>
            </a:prstGeom>
            <a:solidFill>
              <a:srgbClr val="0F172A"/>
            </a:solidFill>
            <a:ln w="15875">
              <a:solidFill>
                <a:srgbClr val="14B8A6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1" name="Text 83">
              <a:extLst>
                <a:ext uri="{FF2B5EF4-FFF2-40B4-BE49-F238E27FC236}">
                  <a16:creationId xmlns:a16="http://schemas.microsoft.com/office/drawing/2014/main" id="{D42E0526-A82E-5F5A-95B7-D13CE83299EC}"/>
                </a:ext>
              </a:extLst>
            </p:cNvPr>
            <p:cNvSpPr/>
            <p:nvPr/>
          </p:nvSpPr>
          <p:spPr>
            <a:xfrm>
              <a:off x="713231" y="3147963"/>
              <a:ext cx="3274199" cy="6544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16+</a:t>
              </a:r>
              <a:endParaRPr lang="en-US" sz="3200" dirty="0"/>
            </a:p>
          </p:txBody>
        </p:sp>
        <p:sp>
          <p:nvSpPr>
            <p:cNvPr id="42" name="Text 84">
              <a:extLst>
                <a:ext uri="{FF2B5EF4-FFF2-40B4-BE49-F238E27FC236}">
                  <a16:creationId xmlns:a16="http://schemas.microsoft.com/office/drawing/2014/main" id="{A4075DAD-8B94-B7AD-0B11-77C3D85D6F17}"/>
                </a:ext>
              </a:extLst>
            </p:cNvPr>
            <p:cNvSpPr/>
            <p:nvPr/>
          </p:nvSpPr>
          <p:spPr>
            <a:xfrm>
              <a:off x="713231" y="3547363"/>
              <a:ext cx="3274199" cy="9184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94A3B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Tracked objects</a:t>
              </a:r>
              <a:endParaRPr lang="en-US" sz="3200" dirty="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8F12D694-1658-787B-A7AB-93A73750D991}"/>
              </a:ext>
            </a:extLst>
          </p:cNvPr>
          <p:cNvGrpSpPr/>
          <p:nvPr/>
        </p:nvGrpSpPr>
        <p:grpSpPr>
          <a:xfrm>
            <a:off x="4647152" y="3040758"/>
            <a:ext cx="3274199" cy="1492495"/>
            <a:chOff x="4124590" y="3147963"/>
            <a:chExt cx="3274199" cy="1492495"/>
          </a:xfrm>
        </p:grpSpPr>
        <p:sp>
          <p:nvSpPr>
            <p:cNvPr id="43" name="Shape 85">
              <a:extLst>
                <a:ext uri="{FF2B5EF4-FFF2-40B4-BE49-F238E27FC236}">
                  <a16:creationId xmlns:a16="http://schemas.microsoft.com/office/drawing/2014/main" id="{62A057E7-C8E9-E035-2734-A62E011CFE9C}"/>
                </a:ext>
              </a:extLst>
            </p:cNvPr>
            <p:cNvSpPr/>
            <p:nvPr/>
          </p:nvSpPr>
          <p:spPr>
            <a:xfrm>
              <a:off x="4124590" y="3147963"/>
              <a:ext cx="3274199" cy="1492495"/>
            </a:xfrm>
            <a:prstGeom prst="roundRect">
              <a:avLst>
                <a:gd name="adj" fmla="val 6667"/>
              </a:avLst>
            </a:prstGeom>
            <a:solidFill>
              <a:srgbClr val="0F172A"/>
            </a:solidFill>
            <a:ln w="15875">
              <a:solidFill>
                <a:srgbClr val="38BDF8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4" name="Text 86">
              <a:extLst>
                <a:ext uri="{FF2B5EF4-FFF2-40B4-BE49-F238E27FC236}">
                  <a16:creationId xmlns:a16="http://schemas.microsoft.com/office/drawing/2014/main" id="{9D97CF85-DBE5-9327-9A9A-7A43BBC8D994}"/>
                </a:ext>
              </a:extLst>
            </p:cNvPr>
            <p:cNvSpPr/>
            <p:nvPr/>
          </p:nvSpPr>
          <p:spPr>
            <a:xfrm>
              <a:off x="4441447" y="3240537"/>
              <a:ext cx="2640483" cy="4643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600+</a:t>
              </a:r>
              <a:endParaRPr lang="en-US" sz="3200" dirty="0"/>
            </a:p>
          </p:txBody>
        </p:sp>
        <p:sp>
          <p:nvSpPr>
            <p:cNvPr id="45" name="Text 87">
              <a:extLst>
                <a:ext uri="{FF2B5EF4-FFF2-40B4-BE49-F238E27FC236}">
                  <a16:creationId xmlns:a16="http://schemas.microsoft.com/office/drawing/2014/main" id="{5901A6E9-2974-3EB6-B116-82103050F4BF}"/>
                </a:ext>
              </a:extLst>
            </p:cNvPr>
            <p:cNvSpPr/>
            <p:nvPr/>
          </p:nvSpPr>
          <p:spPr>
            <a:xfrm>
              <a:off x="4124590" y="3624527"/>
              <a:ext cx="3274199" cy="7641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94A3B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Frames / object</a:t>
              </a:r>
              <a:endParaRPr lang="en-US" sz="3200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0F422923-5D0E-E0DD-B76D-0CC41CA1BE3B}"/>
              </a:ext>
            </a:extLst>
          </p:cNvPr>
          <p:cNvGrpSpPr/>
          <p:nvPr/>
        </p:nvGrpSpPr>
        <p:grpSpPr>
          <a:xfrm>
            <a:off x="8297852" y="3040758"/>
            <a:ext cx="3274199" cy="1492495"/>
            <a:chOff x="7730967" y="3130808"/>
            <a:chExt cx="3274199" cy="1492495"/>
          </a:xfrm>
        </p:grpSpPr>
        <p:sp>
          <p:nvSpPr>
            <p:cNvPr id="46" name="Shape 88">
              <a:extLst>
                <a:ext uri="{FF2B5EF4-FFF2-40B4-BE49-F238E27FC236}">
                  <a16:creationId xmlns:a16="http://schemas.microsoft.com/office/drawing/2014/main" id="{CABC6FDF-B6F9-F1EF-4EB6-E01CDE8D6144}"/>
                </a:ext>
              </a:extLst>
            </p:cNvPr>
            <p:cNvSpPr/>
            <p:nvPr/>
          </p:nvSpPr>
          <p:spPr>
            <a:xfrm>
              <a:off x="7730967" y="3130808"/>
              <a:ext cx="3274199" cy="1492495"/>
            </a:xfrm>
            <a:prstGeom prst="roundRect">
              <a:avLst>
                <a:gd name="adj" fmla="val 6667"/>
              </a:avLst>
            </a:prstGeom>
            <a:solidFill>
              <a:srgbClr val="0F172A"/>
            </a:solidFill>
            <a:ln w="15875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7" name="Text 89">
              <a:extLst>
                <a:ext uri="{FF2B5EF4-FFF2-40B4-BE49-F238E27FC236}">
                  <a16:creationId xmlns:a16="http://schemas.microsoft.com/office/drawing/2014/main" id="{11EE09C5-3440-E5CD-6A58-E2AAEF75749E}"/>
                </a:ext>
              </a:extLst>
            </p:cNvPr>
            <p:cNvSpPr/>
            <p:nvPr/>
          </p:nvSpPr>
          <p:spPr>
            <a:xfrm>
              <a:off x="7730967" y="3240537"/>
              <a:ext cx="3274199" cy="4643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JSON / CSV</a:t>
              </a:r>
              <a:endParaRPr lang="en-US" sz="3200" dirty="0"/>
            </a:p>
          </p:txBody>
        </p:sp>
        <p:sp>
          <p:nvSpPr>
            <p:cNvPr id="48" name="Text 90">
              <a:extLst>
                <a:ext uri="{FF2B5EF4-FFF2-40B4-BE49-F238E27FC236}">
                  <a16:creationId xmlns:a16="http://schemas.microsoft.com/office/drawing/2014/main" id="{E15469DE-41CA-9C7E-3746-9A2FD29AD60C}"/>
                </a:ext>
              </a:extLst>
            </p:cNvPr>
            <p:cNvSpPr/>
            <p:nvPr/>
          </p:nvSpPr>
          <p:spPr>
            <a:xfrm>
              <a:off x="7730967" y="3624526"/>
              <a:ext cx="3185189" cy="7641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94A3B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Save &amp; load</a:t>
              </a:r>
              <a:endParaRPr lang="en-US" sz="32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360226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F5F8FC"/>
                </a:solidFill>
                <a:latin typeface="Malgun Gothic"/>
              </a:rPr>
              <a:t>프로젝트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개요</a:t>
            </a:r>
            <a:endParaRPr sz="2400" b="1" dirty="0">
              <a:solidFill>
                <a:srgbClr val="F5F8FC"/>
              </a:solidFill>
              <a:latin typeface="Malgun Gothic"/>
            </a:endParaRPr>
          </a:p>
          <a:p>
            <a:pPr>
              <a:defRPr sz="1000">
                <a:solidFill>
                  <a:srgbClr val="BEC9D6"/>
                </a:solidFill>
                <a:latin typeface="Malgun Gothic"/>
              </a:defRPr>
            </a:pPr>
            <a:r>
              <a:rPr sz="1200" dirty="0" err="1"/>
              <a:t>관찰·기록·분석</a:t>
            </a:r>
            <a:r>
              <a:rPr sz="1200" dirty="0"/>
              <a:t> </a:t>
            </a:r>
            <a:r>
              <a:rPr sz="1200" dirty="0" err="1"/>
              <a:t>중심의</a:t>
            </a:r>
            <a:r>
              <a:rPr sz="1200" dirty="0"/>
              <a:t> </a:t>
            </a:r>
            <a:r>
              <a:rPr sz="1200" err="1"/>
              <a:t>생산</a:t>
            </a:r>
            <a:r>
              <a:rPr sz="1200"/>
              <a:t> 라인 </a:t>
            </a:r>
            <a:r>
              <a:rPr sz="1200" dirty="0" err="1"/>
              <a:t>모니터링</a:t>
            </a:r>
            <a:r>
              <a:rPr sz="1200" dirty="0"/>
              <a:t> </a:t>
            </a:r>
            <a:r>
              <a:rPr sz="1200" dirty="0" err="1"/>
              <a:t>시스템</a:t>
            </a:r>
            <a:endParaRPr sz="1200" dirty="0"/>
          </a:p>
        </p:txBody>
      </p:sp>
      <p:sp>
        <p:nvSpPr>
          <p:cNvPr id="3" name="Rectangle 2"/>
          <p:cNvSpPr/>
          <p:nvPr/>
        </p:nvSpPr>
        <p:spPr>
          <a:xfrm>
            <a:off x="457200" y="949960"/>
            <a:ext cx="11155680" cy="45720"/>
          </a:xfrm>
          <a:prstGeom prst="rect">
            <a:avLst/>
          </a:prstGeom>
          <a:solidFill>
            <a:srgbClr val="2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24712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BEC9D6"/>
                </a:solidFill>
                <a:latin typeface="Malgun Gothic"/>
              </a:rPr>
              <a:t>2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5AEC88C-41C6-2E1B-A571-0CEEA2C083FA}"/>
              </a:ext>
            </a:extLst>
          </p:cNvPr>
          <p:cNvGrpSpPr/>
          <p:nvPr/>
        </p:nvGrpSpPr>
        <p:grpSpPr>
          <a:xfrm>
            <a:off x="640080" y="1315721"/>
            <a:ext cx="3547872" cy="2011680"/>
            <a:chOff x="640080" y="1143000"/>
            <a:chExt cx="3547872" cy="2011680"/>
          </a:xfrm>
        </p:grpSpPr>
        <p:sp>
          <p:nvSpPr>
            <p:cNvPr id="5" name="Rounded Rectangle 4"/>
            <p:cNvSpPr/>
            <p:nvPr/>
          </p:nvSpPr>
          <p:spPr>
            <a:xfrm>
              <a:off x="640080" y="1143000"/>
              <a:ext cx="3068320" cy="2011680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 w="15875"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04672" y="1252728"/>
              <a:ext cx="3328416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dirty="0" err="1">
                  <a:solidFill>
                    <a:srgbClr val="24D2FF"/>
                  </a:solidFill>
                  <a:latin typeface="Malgun Gothic"/>
                </a:rPr>
                <a:t>프로젝트</a:t>
              </a:r>
              <a:r>
                <a:rPr sz="1600" b="1" dirty="0">
                  <a:solidFill>
                    <a:srgbClr val="24D2FF"/>
                  </a:solidFill>
                  <a:latin typeface="Malgun Gothic"/>
                </a:rPr>
                <a:t> </a:t>
              </a:r>
              <a:r>
                <a:rPr sz="1600" b="1" dirty="0" err="1">
                  <a:solidFill>
                    <a:srgbClr val="24D2FF"/>
                  </a:solidFill>
                  <a:latin typeface="Malgun Gothic"/>
                </a:rPr>
                <a:t>목적</a:t>
              </a:r>
              <a:endParaRPr sz="1600" b="1" dirty="0">
                <a:solidFill>
                  <a:srgbClr val="24D2FF"/>
                </a:solidFill>
                <a:latin typeface="Malgun Gothic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4672" y="1554480"/>
              <a:ext cx="3383280" cy="11377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t>• 오브젝트</a:t>
              </a:r>
              <a:r>
                <a:rPr lang="en-US"/>
                <a:t> </a:t>
              </a:r>
              <a:r>
                <a:rPr dirty="0" err="1"/>
                <a:t>상태</a:t>
              </a:r>
              <a:r>
                <a:rPr dirty="0"/>
                <a:t> </a:t>
              </a:r>
              <a:r>
                <a:rPr dirty="0" err="1"/>
                <a:t>관찰·기록·분석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err="1"/>
                <a:t>생산</a:t>
              </a:r>
              <a:r>
                <a:t> 라인</a:t>
              </a:r>
              <a:r>
                <a:rPr lang="en-US"/>
                <a:t> </a:t>
              </a:r>
              <a:r>
                <a:rPr dirty="0" err="1"/>
                <a:t>이동</a:t>
              </a:r>
              <a:r>
                <a:rPr dirty="0"/>
                <a:t> </a:t>
              </a:r>
              <a:r>
                <a:rPr lang="ko-KR" altLang="en-US"/>
                <a:t>중인</a:t>
              </a:r>
              <a:r>
                <a:t> 오브젝트 </a:t>
              </a:r>
              <a:r>
                <a:rPr dirty="0"/>
                <a:t>Transform </a:t>
              </a:r>
              <a:r>
                <a:rPr dirty="0" err="1"/>
                <a:t>데이터를</a:t>
              </a:r>
              <a:r>
                <a:rPr dirty="0"/>
                <a:t> </a:t>
              </a:r>
              <a:r>
                <a:rPr dirty="0" err="1"/>
                <a:t>시각</a:t>
              </a:r>
              <a:r>
                <a:rPr lang="ko-KR" altLang="en-US" dirty="0"/>
                <a:t>화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D9FD240-FAC9-9142-E09C-57F13CA54594}"/>
              </a:ext>
            </a:extLst>
          </p:cNvPr>
          <p:cNvGrpSpPr/>
          <p:nvPr/>
        </p:nvGrpSpPr>
        <p:grpSpPr>
          <a:xfrm>
            <a:off x="640080" y="3622156"/>
            <a:ext cx="3068320" cy="2395613"/>
            <a:chOff x="640080" y="3429000"/>
            <a:chExt cx="3068320" cy="2395613"/>
          </a:xfrm>
        </p:grpSpPr>
        <p:sp>
          <p:nvSpPr>
            <p:cNvPr id="8" name="Rounded Rectangle 7"/>
            <p:cNvSpPr/>
            <p:nvPr/>
          </p:nvSpPr>
          <p:spPr>
            <a:xfrm>
              <a:off x="640080" y="3429000"/>
              <a:ext cx="3068320" cy="2377440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 w="15875"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04672" y="3538728"/>
              <a:ext cx="285664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dirty="0" err="1">
                  <a:solidFill>
                    <a:srgbClr val="4FD696"/>
                  </a:solidFill>
                  <a:latin typeface="Malgun Gothic"/>
                </a:rPr>
                <a:t>시스템</a:t>
              </a:r>
              <a:r>
                <a:rPr sz="1600" b="1" dirty="0">
                  <a:solidFill>
                    <a:srgbClr val="4FD696"/>
                  </a:solidFill>
                  <a:latin typeface="Malgun Gothic"/>
                </a:rPr>
                <a:t> </a:t>
              </a:r>
              <a:r>
                <a:rPr sz="1600" b="1" dirty="0" err="1">
                  <a:solidFill>
                    <a:srgbClr val="4FD696"/>
                  </a:solidFill>
                  <a:latin typeface="Malgun Gothic"/>
                </a:rPr>
                <a:t>흐름</a:t>
              </a:r>
              <a:endParaRPr sz="1600" b="1" dirty="0">
                <a:solidFill>
                  <a:srgbClr val="4FD696"/>
                </a:solidFill>
                <a:latin typeface="Malgun Gothic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04672" y="3840480"/>
              <a:ext cx="2903728" cy="19841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err="1"/>
                <a:t>움직이는</a:t>
              </a:r>
              <a:r>
                <a:t> 오브젝트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Transform 값 </a:t>
              </a:r>
              <a:r>
                <a:rPr dirty="0" err="1"/>
                <a:t>읽기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프레임</a:t>
              </a:r>
              <a:r>
                <a:rPr dirty="0"/>
                <a:t> </a:t>
              </a:r>
              <a:r>
                <a:rPr dirty="0" err="1"/>
                <a:t>데이터</a:t>
              </a:r>
              <a:r>
                <a:rPr dirty="0"/>
                <a:t> </a:t>
              </a:r>
              <a:r>
                <a:rPr dirty="0" err="1"/>
                <a:t>저장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그래프</a:t>
              </a:r>
              <a:r>
                <a:rPr dirty="0"/>
                <a:t> UI </a:t>
              </a:r>
              <a:r>
                <a:rPr dirty="0" err="1"/>
                <a:t>표시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CSV / JSON </a:t>
              </a:r>
              <a:r>
                <a:rPr dirty="0" err="1"/>
                <a:t>저장·불러오기</a:t>
              </a:r>
              <a:endParaRPr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35446" y="6345164"/>
            <a:ext cx="6675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BEC9D6"/>
                </a:solidFill>
                <a:latin typeface="Malgun Gothic"/>
              </a:rPr>
              <a:t>FLOW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: </a:t>
            </a:r>
            <a:r>
              <a:rPr sz="1400" b="0" dirty="0" err="1">
                <a:solidFill>
                  <a:srgbClr val="BEC9D6"/>
                </a:solidFill>
                <a:latin typeface="Malgun Gothic"/>
              </a:rPr>
              <a:t>기록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 → </a:t>
            </a:r>
            <a:r>
              <a:rPr sz="1400" b="0" dirty="0" err="1">
                <a:solidFill>
                  <a:srgbClr val="BEC9D6"/>
                </a:solidFill>
                <a:latin typeface="Malgun Gothic"/>
              </a:rPr>
              <a:t>비교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 → </a:t>
            </a:r>
            <a:r>
              <a:rPr sz="1400" b="0" dirty="0" err="1">
                <a:solidFill>
                  <a:srgbClr val="BEC9D6"/>
                </a:solidFill>
                <a:latin typeface="Malgun Gothic"/>
              </a:rPr>
              <a:t>분석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 → </a:t>
            </a:r>
            <a:r>
              <a:rPr sz="1400" b="0" dirty="0" err="1">
                <a:solidFill>
                  <a:srgbClr val="BEC9D6"/>
                </a:solidFill>
                <a:latin typeface="Malgun Gothic"/>
              </a:rPr>
              <a:t>저장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 → </a:t>
            </a:r>
            <a:r>
              <a:rPr sz="1400" b="0" dirty="0" err="1">
                <a:solidFill>
                  <a:srgbClr val="BEC9D6"/>
                </a:solidFill>
                <a:latin typeface="Malgun Gothic"/>
              </a:rPr>
              <a:t>검토</a:t>
            </a:r>
            <a:endParaRPr sz="1400" b="0" dirty="0">
              <a:solidFill>
                <a:srgbClr val="BEC9D6"/>
              </a:solidFill>
              <a:latin typeface="Malgun Gothic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0BB76D8-8BD7-68E7-1749-EF508CF166E4}"/>
              </a:ext>
            </a:extLst>
          </p:cNvPr>
          <p:cNvGrpSpPr/>
          <p:nvPr/>
        </p:nvGrpSpPr>
        <p:grpSpPr>
          <a:xfrm>
            <a:off x="4059469" y="1354329"/>
            <a:ext cx="7187652" cy="4645267"/>
            <a:chOff x="3801533" y="1143000"/>
            <a:chExt cx="7811347" cy="4663440"/>
          </a:xfrm>
        </p:grpSpPr>
        <p:sp>
          <p:nvSpPr>
            <p:cNvPr id="11" name="Rounded Rectangle 10"/>
            <p:cNvSpPr/>
            <p:nvPr/>
          </p:nvSpPr>
          <p:spPr>
            <a:xfrm>
              <a:off x="3801533" y="1143000"/>
              <a:ext cx="7811347" cy="4663440"/>
            </a:xfrm>
            <a:prstGeom prst="roundRect">
              <a:avLst>
                <a:gd name="adj" fmla="val 2000"/>
              </a:avLst>
            </a:prstGeom>
            <a:solidFill>
              <a:srgbClr val="141E2D"/>
            </a:solidFill>
            <a:ln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pic>
          <p:nvPicPr>
            <p:cNvPr id="15" name="Picture 1" descr="스크린샷 2026-04-22 121700.png">
              <a:extLst>
                <a:ext uri="{FF2B5EF4-FFF2-40B4-BE49-F238E27FC236}">
                  <a16:creationId xmlns:a16="http://schemas.microsoft.com/office/drawing/2014/main" id="{0332873B-5443-7159-E936-F5D612DC3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73006" y="1252728"/>
              <a:ext cx="7678914" cy="44622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169469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F5F8FC"/>
                </a:solidFill>
                <a:latin typeface="Malgun Gothic"/>
              </a:rPr>
              <a:t>요구사항</a:t>
            </a:r>
            <a:endParaRPr sz="2400" b="1" dirty="0">
              <a:solidFill>
                <a:srgbClr val="F5F8FC"/>
              </a:solidFill>
              <a:latin typeface="Malgun Gothic"/>
            </a:endParaRPr>
          </a:p>
          <a:p>
            <a:pPr>
              <a:defRPr sz="1000">
                <a:solidFill>
                  <a:srgbClr val="BEC9D6"/>
                </a:solidFill>
                <a:latin typeface="Malgun Gothic"/>
              </a:defRPr>
            </a:pPr>
            <a:r>
              <a:rPr sz="1200" dirty="0" err="1"/>
              <a:t>요구</a:t>
            </a:r>
            <a:r>
              <a:rPr sz="1200" dirty="0"/>
              <a:t> </a:t>
            </a:r>
            <a:r>
              <a:rPr sz="1200" dirty="0" err="1"/>
              <a:t>항목</a:t>
            </a:r>
            <a:r>
              <a:rPr lang="en-US" sz="1200" dirty="0"/>
              <a:t> / </a:t>
            </a:r>
            <a:r>
              <a:rPr lang="ko-KR" altLang="en-US" sz="1200" dirty="0"/>
              <a:t>구</a:t>
            </a:r>
            <a:r>
              <a:rPr sz="1200" dirty="0"/>
              <a:t>현 </a:t>
            </a:r>
            <a:r>
              <a:rPr sz="1200" dirty="0" err="1"/>
              <a:t>상태</a:t>
            </a:r>
            <a:endParaRPr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124712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BEC9D6"/>
                </a:solidFill>
                <a:latin typeface="Malgun Gothic"/>
              </a:rPr>
              <a:t>3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8F14A68-C4F0-BFE8-7B29-0EBFEED52C66}"/>
              </a:ext>
            </a:extLst>
          </p:cNvPr>
          <p:cNvGrpSpPr/>
          <p:nvPr/>
        </p:nvGrpSpPr>
        <p:grpSpPr>
          <a:xfrm>
            <a:off x="731520" y="1420332"/>
            <a:ext cx="10515600" cy="2398135"/>
            <a:chOff x="731520" y="1420332"/>
            <a:chExt cx="5120640" cy="4431828"/>
          </a:xfrm>
        </p:grpSpPr>
        <p:sp>
          <p:nvSpPr>
            <p:cNvPr id="20" name="Rounded Rectangle 19"/>
            <p:cNvSpPr/>
            <p:nvPr/>
          </p:nvSpPr>
          <p:spPr>
            <a:xfrm>
              <a:off x="731520" y="1420332"/>
              <a:ext cx="5120640" cy="4431828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 w="15875"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90509" y="1710246"/>
              <a:ext cx="4846320" cy="24658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400"/>
                </a:spcAft>
                <a:defRPr sz="16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16개 </a:t>
              </a:r>
              <a:r>
                <a:rPr dirty="0" err="1"/>
                <a:t>이상</a:t>
              </a:r>
              <a:r>
                <a:rPr dirty="0"/>
                <a:t> </a:t>
              </a:r>
              <a:r>
                <a:rPr dirty="0" err="1"/>
                <a:t>박스</a:t>
              </a:r>
              <a:r>
                <a:rPr dirty="0"/>
                <a:t> </a:t>
              </a:r>
              <a:r>
                <a:rPr dirty="0" err="1"/>
                <a:t>추적</a:t>
              </a:r>
              <a:r>
                <a:rPr dirty="0"/>
                <a:t> 및 </a:t>
              </a:r>
              <a:r>
                <a:rPr dirty="0" err="1"/>
                <a:t>순환</a:t>
              </a:r>
              <a:r>
                <a:rPr dirty="0"/>
                <a:t> </a:t>
              </a:r>
              <a:r>
                <a:rPr dirty="0" err="1"/>
                <a:t>이동</a:t>
              </a:r>
              <a:r>
                <a:rPr dirty="0"/>
                <a:t> </a:t>
              </a:r>
              <a:r>
                <a:rPr dirty="0" err="1"/>
                <a:t>구조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6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Position / Rotation / Scale 및 XYZ 축 </a:t>
              </a:r>
              <a:r>
                <a:rPr dirty="0" err="1"/>
                <a:t>데이터</a:t>
              </a:r>
              <a:r>
                <a:rPr dirty="0"/>
                <a:t> </a:t>
              </a:r>
              <a:r>
                <a:rPr dirty="0" err="1"/>
                <a:t>기록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6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Overview / Detail / Focus </a:t>
              </a:r>
              <a:r>
                <a:rPr dirty="0" err="1"/>
                <a:t>그래프</a:t>
              </a:r>
              <a:r>
                <a:rPr dirty="0"/>
                <a:t> UI</a:t>
              </a:r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6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Live View, </a:t>
              </a:r>
              <a:r>
                <a:rPr dirty="0" err="1"/>
                <a:t>상태</a:t>
              </a:r>
              <a:r>
                <a:rPr dirty="0"/>
                <a:t> </a:t>
              </a:r>
              <a:r>
                <a:rPr dirty="0" err="1"/>
                <a:t>해석</a:t>
              </a:r>
              <a:r>
                <a:rPr dirty="0"/>
                <a:t> </a:t>
              </a:r>
              <a:r>
                <a:rPr dirty="0" err="1"/>
                <a:t>패널</a:t>
              </a:r>
              <a:r>
                <a:rPr dirty="0"/>
                <a:t>, </a:t>
              </a:r>
              <a:r>
                <a:rPr dirty="0" err="1"/>
                <a:t>파일</a:t>
              </a:r>
              <a:r>
                <a:rPr dirty="0"/>
                <a:t> </a:t>
              </a:r>
              <a:r>
                <a:rPr dirty="0" err="1"/>
                <a:t>브라우저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6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JSON / CSV </a:t>
              </a:r>
              <a:r>
                <a:rPr dirty="0" err="1"/>
                <a:t>저장</a:t>
              </a:r>
              <a:r>
                <a:rPr dirty="0"/>
                <a:t>, </a:t>
              </a:r>
              <a:r>
                <a:rPr dirty="0" err="1"/>
                <a:t>파일</a:t>
              </a:r>
              <a:r>
                <a:rPr dirty="0"/>
                <a:t> </a:t>
              </a:r>
              <a:r>
                <a:rPr dirty="0" err="1"/>
                <a:t>선택</a:t>
              </a:r>
              <a:r>
                <a:rPr dirty="0"/>
                <a:t>, Load Selected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86FC0D0-4033-7675-5A2E-71299F21ADB1}"/>
              </a:ext>
            </a:extLst>
          </p:cNvPr>
          <p:cNvGrpSpPr/>
          <p:nvPr/>
        </p:nvGrpSpPr>
        <p:grpSpPr>
          <a:xfrm>
            <a:off x="731520" y="4191000"/>
            <a:ext cx="10515600" cy="2398134"/>
            <a:chOff x="6126480" y="1420332"/>
            <a:chExt cx="5120640" cy="4431828"/>
          </a:xfrm>
        </p:grpSpPr>
        <p:sp>
          <p:nvSpPr>
            <p:cNvPr id="23" name="Rounded Rectangle 22"/>
            <p:cNvSpPr/>
            <p:nvPr/>
          </p:nvSpPr>
          <p:spPr>
            <a:xfrm>
              <a:off x="6126480" y="1420332"/>
              <a:ext cx="5120640" cy="4431828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 w="15875"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285469" y="2476347"/>
              <a:ext cx="4846320" cy="2319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400"/>
                </a:spcAft>
                <a:defRPr sz="16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일반</a:t>
              </a:r>
              <a:r>
                <a:rPr dirty="0"/>
                <a:t> </a:t>
              </a:r>
              <a:r>
                <a:rPr dirty="0" err="1"/>
                <a:t>실행</a:t>
              </a:r>
              <a:r>
                <a:rPr dirty="0"/>
                <a:t> 및 </a:t>
              </a:r>
              <a:r>
                <a:rPr dirty="0" err="1"/>
                <a:t>그래프</a:t>
              </a:r>
              <a:r>
                <a:rPr dirty="0"/>
                <a:t> </a:t>
              </a:r>
              <a:r>
                <a:rPr dirty="0" err="1"/>
                <a:t>시각화</a:t>
              </a:r>
              <a:r>
                <a:rPr dirty="0"/>
                <a:t> </a:t>
              </a:r>
              <a:r>
                <a:rPr dirty="0" err="1"/>
                <a:t>안정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6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저장</a:t>
              </a:r>
              <a:r>
                <a:rPr dirty="0"/>
                <a:t> </a:t>
              </a:r>
              <a:r>
                <a:rPr dirty="0" err="1"/>
                <a:t>버튼</a:t>
              </a:r>
              <a:r>
                <a:rPr dirty="0"/>
                <a:t> </a:t>
              </a:r>
              <a:r>
                <a:rPr dirty="0" err="1"/>
                <a:t>클릭</a:t>
              </a:r>
              <a:r>
                <a:rPr dirty="0"/>
                <a:t> 시 </a:t>
              </a:r>
              <a:r>
                <a:rPr dirty="0" err="1"/>
                <a:t>순간</a:t>
              </a:r>
              <a:r>
                <a:rPr dirty="0"/>
                <a:t> </a:t>
              </a:r>
              <a:r>
                <a:rPr dirty="0" err="1"/>
                <a:t>병목은</a:t>
              </a:r>
              <a:r>
                <a:rPr dirty="0"/>
                <a:t> </a:t>
              </a:r>
              <a:r>
                <a:rPr dirty="0" err="1"/>
                <a:t>존재하지만</a:t>
              </a:r>
              <a:r>
                <a:rPr dirty="0"/>
                <a:t> </a:t>
              </a:r>
              <a:r>
                <a:rPr dirty="0" err="1"/>
                <a:t>기능은</a:t>
              </a:r>
              <a:r>
                <a:rPr dirty="0"/>
                <a:t> </a:t>
              </a:r>
              <a:r>
                <a:rPr dirty="0" err="1"/>
                <a:t>정상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6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최종</a:t>
              </a:r>
              <a:r>
                <a:rPr dirty="0"/>
                <a:t> </a:t>
              </a:r>
              <a:r>
                <a:rPr dirty="0" err="1"/>
                <a:t>빌드</a:t>
              </a:r>
              <a:r>
                <a:rPr dirty="0"/>
                <a:t> </a:t>
              </a:r>
              <a:r>
                <a:rPr dirty="0" err="1"/>
                <a:t>완료</a:t>
              </a:r>
              <a:r>
                <a:rPr dirty="0"/>
                <a:t> </a:t>
              </a:r>
              <a:r>
                <a:rPr dirty="0" err="1"/>
                <a:t>기준으로</a:t>
              </a:r>
              <a:r>
                <a:rPr dirty="0"/>
                <a:t> </a:t>
              </a:r>
              <a:r>
                <a:rPr dirty="0" err="1"/>
                <a:t>제출</a:t>
              </a:r>
              <a:r>
                <a:rPr dirty="0"/>
                <a:t> </a:t>
              </a:r>
              <a:r>
                <a:rPr dirty="0" err="1"/>
                <a:t>패키지</a:t>
              </a:r>
              <a:r>
                <a:rPr dirty="0"/>
                <a:t> </a:t>
              </a:r>
              <a:r>
                <a:rPr dirty="0" err="1"/>
                <a:t>구성</a:t>
              </a:r>
              <a:r>
                <a:rPr dirty="0"/>
                <a:t> </a:t>
              </a:r>
              <a:r>
                <a:rPr dirty="0" err="1"/>
                <a:t>가능</a:t>
              </a:r>
              <a:endParaRPr dirty="0"/>
            </a:p>
          </p:txBody>
        </p:sp>
      </p:grpSp>
      <p:sp>
        <p:nvSpPr>
          <p:cNvPr id="26" name="Rectangle 2">
            <a:extLst>
              <a:ext uri="{FF2B5EF4-FFF2-40B4-BE49-F238E27FC236}">
                <a16:creationId xmlns:a16="http://schemas.microsoft.com/office/drawing/2014/main" id="{A185693B-4527-719B-0401-02A5E03DCB69}"/>
              </a:ext>
            </a:extLst>
          </p:cNvPr>
          <p:cNvSpPr/>
          <p:nvPr/>
        </p:nvSpPr>
        <p:spPr>
          <a:xfrm>
            <a:off x="457200" y="949960"/>
            <a:ext cx="11155680" cy="45720"/>
          </a:xfrm>
          <a:prstGeom prst="rect">
            <a:avLst/>
          </a:prstGeom>
          <a:solidFill>
            <a:srgbClr val="2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529420" y="5341449"/>
            <a:ext cx="1812374" cy="960120"/>
          </a:xfrm>
          <a:prstGeom prst="roundRect">
            <a:avLst>
              <a:gd name="adj" fmla="val 8000"/>
            </a:avLst>
          </a:prstGeom>
          <a:solidFill>
            <a:srgbClr val="11253D"/>
          </a:solidFill>
          <a:ln>
            <a:solidFill>
              <a:srgbClr val="46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Rounded Rectangle 19">
            <a:extLst>
              <a:ext uri="{FF2B5EF4-FFF2-40B4-BE49-F238E27FC236}">
                <a16:creationId xmlns:a16="http://schemas.microsoft.com/office/drawing/2014/main" id="{D0622567-E808-97CA-ECD9-3FCA85559974}"/>
              </a:ext>
            </a:extLst>
          </p:cNvPr>
          <p:cNvSpPr/>
          <p:nvPr/>
        </p:nvSpPr>
        <p:spPr>
          <a:xfrm>
            <a:off x="5170360" y="5341449"/>
            <a:ext cx="1812374" cy="960120"/>
          </a:xfrm>
          <a:prstGeom prst="roundRect">
            <a:avLst>
              <a:gd name="adj" fmla="val 8000"/>
            </a:avLst>
          </a:prstGeom>
          <a:solidFill>
            <a:srgbClr val="11253D"/>
          </a:solidFill>
          <a:ln>
            <a:solidFill>
              <a:srgbClr val="46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Rounded Rectangle 19">
            <a:extLst>
              <a:ext uri="{FF2B5EF4-FFF2-40B4-BE49-F238E27FC236}">
                <a16:creationId xmlns:a16="http://schemas.microsoft.com/office/drawing/2014/main" id="{E8211BE7-55D7-A2BC-47E8-E3DFF2132F87}"/>
              </a:ext>
            </a:extLst>
          </p:cNvPr>
          <p:cNvSpPr/>
          <p:nvPr/>
        </p:nvSpPr>
        <p:spPr>
          <a:xfrm>
            <a:off x="2849890" y="5341449"/>
            <a:ext cx="1812374" cy="960120"/>
          </a:xfrm>
          <a:prstGeom prst="roundRect">
            <a:avLst>
              <a:gd name="adj" fmla="val 8000"/>
            </a:avLst>
          </a:prstGeom>
          <a:solidFill>
            <a:srgbClr val="11253D"/>
          </a:solidFill>
          <a:ln>
            <a:solidFill>
              <a:srgbClr val="46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Rounded Rectangle 19">
            <a:extLst>
              <a:ext uri="{FF2B5EF4-FFF2-40B4-BE49-F238E27FC236}">
                <a16:creationId xmlns:a16="http://schemas.microsoft.com/office/drawing/2014/main" id="{2F308490-EE7B-D8FB-4089-7B9E01F579FD}"/>
              </a:ext>
            </a:extLst>
          </p:cNvPr>
          <p:cNvSpPr/>
          <p:nvPr/>
        </p:nvSpPr>
        <p:spPr>
          <a:xfrm>
            <a:off x="7490830" y="5341449"/>
            <a:ext cx="1812374" cy="960120"/>
          </a:xfrm>
          <a:prstGeom prst="roundRect">
            <a:avLst>
              <a:gd name="adj" fmla="val 8000"/>
            </a:avLst>
          </a:prstGeom>
          <a:solidFill>
            <a:srgbClr val="11253D"/>
          </a:solidFill>
          <a:ln>
            <a:solidFill>
              <a:srgbClr val="46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Rounded Rectangle 19">
            <a:extLst>
              <a:ext uri="{FF2B5EF4-FFF2-40B4-BE49-F238E27FC236}">
                <a16:creationId xmlns:a16="http://schemas.microsoft.com/office/drawing/2014/main" id="{4C9E7525-E55B-5D4D-F6EB-B15A4765AF9C}"/>
              </a:ext>
            </a:extLst>
          </p:cNvPr>
          <p:cNvSpPr/>
          <p:nvPr/>
        </p:nvSpPr>
        <p:spPr>
          <a:xfrm>
            <a:off x="9811299" y="5341449"/>
            <a:ext cx="1812374" cy="960120"/>
          </a:xfrm>
          <a:prstGeom prst="roundRect">
            <a:avLst>
              <a:gd name="adj" fmla="val 8000"/>
            </a:avLst>
          </a:prstGeom>
          <a:solidFill>
            <a:srgbClr val="11253D"/>
          </a:solidFill>
          <a:ln>
            <a:solidFill>
              <a:srgbClr val="46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457200" y="256032"/>
            <a:ext cx="26725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F5F8FC"/>
                </a:solidFill>
                <a:latin typeface="Malgun Gothic"/>
              </a:rPr>
              <a:t>시스템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구조</a:t>
            </a:r>
            <a:endParaRPr sz="2400" b="1" dirty="0">
              <a:solidFill>
                <a:srgbClr val="F5F8FC"/>
              </a:solidFill>
              <a:latin typeface="Malgun Gothic"/>
            </a:endParaRPr>
          </a:p>
          <a:p>
            <a:pPr>
              <a:defRPr sz="1000">
                <a:solidFill>
                  <a:srgbClr val="BEC9D6"/>
                </a:solidFill>
                <a:latin typeface="Malgun Gothic"/>
              </a:defRPr>
            </a:pPr>
            <a:r>
              <a:rPr sz="1200" dirty="0" err="1"/>
              <a:t>루트</a:t>
            </a:r>
            <a:r>
              <a:rPr sz="1200" dirty="0"/>
              <a:t> </a:t>
            </a:r>
            <a:r>
              <a:rPr sz="1200" dirty="0" err="1"/>
              <a:t>구조</a:t>
            </a:r>
            <a:r>
              <a:rPr lang="en-US" sz="1200" dirty="0"/>
              <a:t> /</a:t>
            </a:r>
            <a:r>
              <a:rPr sz="1200" dirty="0"/>
              <a:t> </a:t>
            </a:r>
            <a:r>
              <a:rPr sz="1200" dirty="0" err="1"/>
              <a:t>데이터</a:t>
            </a:r>
            <a:r>
              <a:rPr sz="1200" dirty="0"/>
              <a:t> </a:t>
            </a:r>
            <a:r>
              <a:rPr sz="1200" err="1"/>
              <a:t>처리</a:t>
            </a:r>
            <a:r>
              <a:rPr sz="1200"/>
              <a:t> 파이프라인</a:t>
            </a:r>
            <a:endParaRPr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124712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BEC9D6"/>
                </a:solidFill>
                <a:latin typeface="Malgun Gothic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420" y="5582468"/>
            <a:ext cx="18123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5F8FC"/>
                </a:solidFill>
                <a:latin typeface="Malgun Gothic"/>
              </a:rPr>
              <a:t>Transform
Recorder</a:t>
            </a:r>
          </a:p>
        </p:txBody>
      </p:sp>
      <p:sp>
        <p:nvSpPr>
          <p:cNvPr id="10" name="Chevron 9"/>
          <p:cNvSpPr/>
          <p:nvPr/>
        </p:nvSpPr>
        <p:spPr>
          <a:xfrm>
            <a:off x="2414569" y="5708311"/>
            <a:ext cx="256032" cy="365760"/>
          </a:xfrm>
          <a:prstGeom prst="chevron">
            <a:avLst/>
          </a:prstGeom>
          <a:solidFill>
            <a:srgbClr val="2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Chevron 12"/>
          <p:cNvSpPr/>
          <p:nvPr/>
        </p:nvSpPr>
        <p:spPr>
          <a:xfrm>
            <a:off x="4756951" y="5708311"/>
            <a:ext cx="256032" cy="365760"/>
          </a:xfrm>
          <a:prstGeom prst="chevron">
            <a:avLst/>
          </a:prstGeom>
          <a:solidFill>
            <a:srgbClr val="2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2849890" y="5567803"/>
            <a:ext cx="18123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5F8FC"/>
                </a:solidFill>
                <a:latin typeface="Malgun Gothic"/>
              </a:rPr>
              <a:t>Recorder
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0360" y="5577925"/>
            <a:ext cx="18123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5F8FC"/>
                </a:solidFill>
                <a:latin typeface="Malgun Gothic"/>
              </a:rPr>
              <a:t>Graph Data
Provider</a:t>
            </a:r>
          </a:p>
        </p:txBody>
      </p:sp>
      <p:sp>
        <p:nvSpPr>
          <p:cNvPr id="16" name="Chevron 15"/>
          <p:cNvSpPr/>
          <p:nvPr/>
        </p:nvSpPr>
        <p:spPr>
          <a:xfrm>
            <a:off x="7099333" y="5708311"/>
            <a:ext cx="256032" cy="365760"/>
          </a:xfrm>
          <a:prstGeom prst="chevron">
            <a:avLst/>
          </a:prstGeom>
          <a:solidFill>
            <a:srgbClr val="2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7500246" y="5550850"/>
            <a:ext cx="18123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5F8FC"/>
                </a:solidFill>
                <a:latin typeface="Malgun Gothic"/>
              </a:rPr>
              <a:t>Graph
Renderer</a:t>
            </a:r>
          </a:p>
        </p:txBody>
      </p:sp>
      <p:sp>
        <p:nvSpPr>
          <p:cNvPr id="19" name="Chevron 18"/>
          <p:cNvSpPr/>
          <p:nvPr/>
        </p:nvSpPr>
        <p:spPr>
          <a:xfrm>
            <a:off x="9441714" y="5708311"/>
            <a:ext cx="256032" cy="365760"/>
          </a:xfrm>
          <a:prstGeom prst="chevron">
            <a:avLst/>
          </a:prstGeom>
          <a:solidFill>
            <a:srgbClr val="2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9820715" y="5612406"/>
            <a:ext cx="17921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5F8FC"/>
                </a:solidFill>
                <a:latin typeface="Malgun Gothic"/>
              </a:rPr>
              <a:t>UI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4CD0244-6463-9E44-BB78-BEB95B09AE66}"/>
              </a:ext>
            </a:extLst>
          </p:cNvPr>
          <p:cNvGrpSpPr/>
          <p:nvPr/>
        </p:nvGrpSpPr>
        <p:grpSpPr>
          <a:xfrm>
            <a:off x="5570051" y="1600877"/>
            <a:ext cx="5760720" cy="3235960"/>
            <a:chOff x="5486400" y="1234440"/>
            <a:chExt cx="5760720" cy="2208107"/>
          </a:xfrm>
        </p:grpSpPr>
        <p:sp>
          <p:nvSpPr>
            <p:cNvPr id="22" name="Rounded Rectangle 21"/>
            <p:cNvSpPr/>
            <p:nvPr/>
          </p:nvSpPr>
          <p:spPr>
            <a:xfrm>
              <a:off x="5486400" y="1234440"/>
              <a:ext cx="5760720" cy="2208107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 w="15875"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678424" y="1406479"/>
              <a:ext cx="5486400" cy="1896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Recorder</a:t>
              </a:r>
              <a:r>
                <a:rPr err="1"/>
                <a:t>는</a:t>
              </a:r>
              <a:r>
                <a:t> 오브젝트별 </a:t>
              </a:r>
              <a:r>
                <a:rPr dirty="0" err="1"/>
                <a:t>프레임</a:t>
              </a:r>
              <a:r>
                <a:rPr dirty="0"/>
                <a:t> </a:t>
              </a:r>
              <a:r>
                <a:rPr dirty="0" err="1"/>
                <a:t>기록</a:t>
              </a:r>
              <a:r>
                <a:rPr dirty="0"/>
                <a:t> </a:t>
              </a:r>
              <a:r>
                <a:rPr dirty="0" err="1"/>
                <a:t>담당</a:t>
              </a:r>
              <a:endParaRPr lang="en-US"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Graph Data Provider </a:t>
              </a:r>
              <a:r>
                <a:rPr dirty="0" err="1"/>
                <a:t>그래프용</a:t>
              </a:r>
              <a:r>
                <a:rPr dirty="0"/>
                <a:t> </a:t>
              </a:r>
              <a:r>
                <a:rPr dirty="0" err="1"/>
                <a:t>포인트</a:t>
              </a:r>
              <a:r>
                <a:rPr dirty="0"/>
                <a:t> </a:t>
              </a:r>
              <a:r>
                <a:rPr dirty="0" err="1"/>
                <a:t>변환</a:t>
              </a:r>
              <a:endParaRPr lang="en-US"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Renderer와</a:t>
              </a:r>
              <a:r>
                <a:rPr dirty="0"/>
                <a:t> </a:t>
              </a:r>
              <a:r>
                <a:rPr dirty="0" err="1"/>
                <a:t>UI를</a:t>
              </a:r>
              <a:r>
                <a:rPr dirty="0"/>
                <a:t> </a:t>
              </a:r>
              <a:r>
                <a:rPr dirty="0" err="1"/>
                <a:t>분리해</a:t>
              </a:r>
              <a:r>
                <a:rPr dirty="0"/>
                <a:t> </a:t>
              </a:r>
              <a:r>
                <a:rPr dirty="0" err="1"/>
                <a:t>모드</a:t>
              </a:r>
              <a:r>
                <a:rPr dirty="0"/>
                <a:t> </a:t>
              </a:r>
              <a:r>
                <a:rPr dirty="0" err="1"/>
                <a:t>전환</a:t>
              </a:r>
              <a:endParaRPr lang="en-US"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endParaRPr lang="ko-KR" altLang="en-US"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lang="en-US" altLang="ko-KR" dirty="0"/>
                <a:t>• Manager </a:t>
              </a:r>
              <a:r>
                <a:rPr lang="ko-KR" altLang="en-US" dirty="0"/>
                <a:t>중심 구조로 저장</a:t>
              </a:r>
              <a:r>
                <a:rPr lang="en-US" altLang="ko-KR" dirty="0"/>
                <a:t>/</a:t>
              </a:r>
              <a:r>
                <a:rPr lang="ko-KR" altLang="en-US" dirty="0"/>
                <a:t>불러오기</a:t>
              </a:r>
            </a:p>
          </p:txBody>
        </p:sp>
      </p:grpSp>
      <p:sp>
        <p:nvSpPr>
          <p:cNvPr id="25" name="Rectangle 2">
            <a:extLst>
              <a:ext uri="{FF2B5EF4-FFF2-40B4-BE49-F238E27FC236}">
                <a16:creationId xmlns:a16="http://schemas.microsoft.com/office/drawing/2014/main" id="{994D6A4C-A83D-F39B-A8A6-68E9A6F84B3F}"/>
              </a:ext>
            </a:extLst>
          </p:cNvPr>
          <p:cNvSpPr/>
          <p:nvPr/>
        </p:nvSpPr>
        <p:spPr>
          <a:xfrm>
            <a:off x="457200" y="949960"/>
            <a:ext cx="11155680" cy="45720"/>
          </a:xfrm>
          <a:prstGeom prst="rect">
            <a:avLst/>
          </a:prstGeom>
          <a:solidFill>
            <a:srgbClr val="2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141D3D86-8858-C9D9-76D7-5E368BE82AF8}"/>
              </a:ext>
            </a:extLst>
          </p:cNvPr>
          <p:cNvSpPr/>
          <p:nvPr/>
        </p:nvSpPr>
        <p:spPr>
          <a:xfrm>
            <a:off x="594359" y="1262720"/>
            <a:ext cx="4654973" cy="3745316"/>
          </a:xfrm>
          <a:prstGeom prst="roundRect">
            <a:avLst>
              <a:gd name="adj" fmla="val 1798"/>
            </a:avLst>
          </a:prstGeom>
          <a:solidFill>
            <a:srgbClr val="111827"/>
          </a:solidFill>
          <a:ln w="12700">
            <a:solidFill>
              <a:srgbClr val="23324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58B91559-B4E9-CAB8-98CC-C965747B1A18}"/>
              </a:ext>
            </a:extLst>
          </p:cNvPr>
          <p:cNvSpPr/>
          <p:nvPr/>
        </p:nvSpPr>
        <p:spPr>
          <a:xfrm>
            <a:off x="915078" y="1262718"/>
            <a:ext cx="3429000" cy="37453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PL_Root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 Environment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 ProductionLine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 TrackObjects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 Props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 CameraRig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GraphSystem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ProductionLine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 Conveyor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 StartPoint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 EndPoint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FallBox</a:t>
            </a:r>
            <a:endParaRPr lang="en-US" sz="1400" dirty="0"/>
          </a:p>
        </p:txBody>
      </p:sp>
      <p:pic>
        <p:nvPicPr>
          <p:cNvPr id="33" name="Image 0" descr="/mnt/data/image.png">
            <a:extLst>
              <a:ext uri="{FF2B5EF4-FFF2-40B4-BE49-F238E27FC236}">
                <a16:creationId xmlns:a16="http://schemas.microsoft.com/office/drawing/2014/main" id="{2B0AE520-2B60-6559-AC6D-BD9648D7E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954" y="1738037"/>
            <a:ext cx="1889322" cy="2961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369844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F5F8FC"/>
                </a:solidFill>
                <a:latin typeface="Malgun Gothic"/>
              </a:rPr>
              <a:t>기능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설명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①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그래프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모드</a:t>
            </a:r>
            <a:endParaRPr sz="2400" b="1" dirty="0">
              <a:solidFill>
                <a:srgbClr val="F5F8FC"/>
              </a:solidFill>
              <a:latin typeface="Malgun Gothic"/>
            </a:endParaRPr>
          </a:p>
          <a:p>
            <a:pPr>
              <a:defRPr sz="1000">
                <a:solidFill>
                  <a:srgbClr val="BEC9D6"/>
                </a:solidFill>
                <a:latin typeface="Malgun Gothic"/>
              </a:defRPr>
            </a:pPr>
            <a:r>
              <a:rPr sz="1200" dirty="0"/>
              <a:t>Overview / Detail /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BEC9D6"/>
                </a:solidFill>
                <a:latin typeface="Malgun Gothic"/>
              </a:rPr>
              <a:t>5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4081D08-745E-A6F4-D09D-1109FD381BD0}"/>
              </a:ext>
            </a:extLst>
          </p:cNvPr>
          <p:cNvGrpSpPr/>
          <p:nvPr/>
        </p:nvGrpSpPr>
        <p:grpSpPr>
          <a:xfrm>
            <a:off x="512910" y="1349403"/>
            <a:ext cx="10853594" cy="5069686"/>
            <a:chOff x="365760" y="1188720"/>
            <a:chExt cx="11155680" cy="5413248"/>
          </a:xfrm>
        </p:grpSpPr>
        <p:sp>
          <p:nvSpPr>
            <p:cNvPr id="8" name="Rounded Rectangle 7"/>
            <p:cNvSpPr/>
            <p:nvPr/>
          </p:nvSpPr>
          <p:spPr>
            <a:xfrm>
              <a:off x="365760" y="1188720"/>
              <a:ext cx="11155680" cy="5413248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 w="15875"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0560" y="1270000"/>
              <a:ext cx="460857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dirty="0">
                  <a:solidFill>
                    <a:srgbClr val="24D2FF"/>
                  </a:solidFill>
                  <a:latin typeface="Malgun Gothic"/>
                </a:rPr>
                <a:t>3</a:t>
              </a:r>
              <a:r>
                <a:rPr lang="ko-KR" altLang="en-US" sz="1600" b="1" dirty="0">
                  <a:solidFill>
                    <a:srgbClr val="24D2FF"/>
                  </a:solidFill>
                  <a:latin typeface="Malgun Gothic"/>
                </a:rPr>
                <a:t>가지 </a:t>
              </a:r>
              <a:r>
                <a:rPr sz="1600" b="1" dirty="0" err="1">
                  <a:solidFill>
                    <a:srgbClr val="24D2FF"/>
                  </a:solidFill>
                  <a:latin typeface="Malgun Gothic"/>
                </a:rPr>
                <a:t>모드</a:t>
              </a:r>
              <a:endParaRPr sz="1600" b="1" dirty="0">
                <a:solidFill>
                  <a:srgbClr val="24D2FF"/>
                </a:solidFill>
                <a:latin typeface="Malgun Gothic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910" y="1608554"/>
              <a:ext cx="10861379" cy="25605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sz="1600" dirty="0"/>
                <a:t>• Overview: 16개 </a:t>
              </a:r>
              <a:r>
                <a:rPr sz="1600" dirty="0" err="1"/>
                <a:t>박스</a:t>
              </a:r>
              <a:r>
                <a:rPr sz="1600" dirty="0"/>
                <a:t> </a:t>
              </a:r>
              <a:r>
                <a:rPr sz="1600" dirty="0" err="1"/>
                <a:t>전체</a:t>
              </a:r>
              <a:r>
                <a:rPr sz="1600" dirty="0"/>
                <a:t> 흐</a:t>
              </a:r>
              <a:r>
                <a:rPr lang="ko-KR" altLang="en-US" sz="1600" dirty="0"/>
                <a:t>름 </a:t>
              </a:r>
              <a:r>
                <a:rPr lang="en-US" altLang="ko-KR" sz="1600" dirty="0"/>
                <a:t>=&gt;</a:t>
              </a:r>
              <a:r>
                <a:rPr lang="ko-KR" altLang="en-US" sz="1600" dirty="0"/>
                <a:t> </a:t>
              </a:r>
              <a:r>
                <a:rPr sz="1600" dirty="0" err="1"/>
                <a:t>이상</a:t>
              </a:r>
              <a:r>
                <a:rPr sz="1600" dirty="0"/>
                <a:t> </a:t>
              </a:r>
              <a:r>
                <a:rPr sz="1600" dirty="0" err="1"/>
                <a:t>박스를</a:t>
              </a:r>
              <a:r>
                <a:rPr sz="1600" dirty="0"/>
                <a:t> </a:t>
              </a:r>
              <a:r>
                <a:rPr sz="1600" dirty="0" err="1"/>
                <a:t>탐색</a:t>
              </a:r>
              <a:endParaRPr sz="1600"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sz="1600" dirty="0"/>
                <a:t>• Detail: </a:t>
              </a:r>
              <a:r>
                <a:rPr sz="1600" dirty="0" err="1"/>
                <a:t>선택</a:t>
              </a:r>
              <a:r>
                <a:rPr sz="1600" dirty="0"/>
                <a:t> </a:t>
              </a:r>
              <a:r>
                <a:rPr sz="1600" dirty="0" err="1"/>
                <a:t>박스</a:t>
              </a:r>
              <a:r>
                <a:rPr sz="1600" dirty="0"/>
                <a:t> X / Y / Z</a:t>
              </a:r>
              <a:r>
                <a:rPr lang="en-US" sz="1600" dirty="0"/>
                <a:t> /</a:t>
              </a:r>
              <a:r>
                <a:rPr sz="1600" dirty="0"/>
                <a:t> All 4분면 </a:t>
              </a:r>
              <a:r>
                <a:rPr sz="1600" dirty="0" err="1"/>
                <a:t>비교</a:t>
              </a:r>
              <a:endParaRPr sz="1600"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sz="1600" dirty="0"/>
                <a:t>• Focus: </a:t>
              </a:r>
              <a:r>
                <a:rPr sz="1600" dirty="0" err="1"/>
                <a:t>단일</a:t>
              </a:r>
              <a:r>
                <a:rPr sz="1600" dirty="0"/>
                <a:t> </a:t>
              </a:r>
              <a:r>
                <a:rPr sz="1600" dirty="0" err="1"/>
                <a:t>축을</a:t>
              </a:r>
              <a:r>
                <a:rPr sz="1600" dirty="0"/>
                <a:t> </a:t>
              </a:r>
              <a:r>
                <a:rPr sz="1600" dirty="0" err="1"/>
                <a:t>확대</a:t>
              </a:r>
              <a:endParaRPr lang="en-US" sz="1600"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sz="1600" dirty="0"/>
                <a:t>• </a:t>
              </a:r>
              <a:r>
                <a:rPr sz="1600" dirty="0" err="1"/>
                <a:t>상단</a:t>
              </a:r>
              <a:r>
                <a:rPr sz="1600" dirty="0"/>
                <a:t> Position / Rotation / Scale</a:t>
              </a:r>
              <a:r>
                <a:rPr lang="en-US" sz="1600" dirty="0"/>
                <a:t> </a:t>
              </a:r>
              <a:r>
                <a:rPr sz="1600" dirty="0" err="1"/>
                <a:t>선택</a:t>
              </a:r>
              <a:endParaRPr lang="en-US" sz="1600"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lang="en-US" altLang="ko-KR" sz="1600" dirty="0"/>
                <a:t>• </a:t>
              </a:r>
              <a:r>
                <a:rPr lang="ko-KR" altLang="en-US" sz="1600" dirty="0"/>
                <a:t>우측 </a:t>
              </a:r>
              <a:r>
                <a:rPr lang="en-US" altLang="ko-KR" sz="1600" dirty="0"/>
                <a:t>All / X / Y / Z </a:t>
              </a:r>
              <a:r>
                <a:rPr lang="ko-KR" altLang="en-US" sz="1600" dirty="0"/>
                <a:t>선택</a:t>
              </a:r>
            </a:p>
            <a:p>
              <a:pPr>
                <a:lnSpc>
                  <a:spcPct val="20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endParaRPr dirty="0"/>
            </a:p>
          </p:txBody>
        </p: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86420663-C17F-AA78-F559-0D3E9B7408BF}"/>
              </a:ext>
            </a:extLst>
          </p:cNvPr>
          <p:cNvSpPr/>
          <p:nvPr/>
        </p:nvSpPr>
        <p:spPr>
          <a:xfrm>
            <a:off x="457200" y="949960"/>
            <a:ext cx="11155680" cy="45720"/>
          </a:xfrm>
          <a:prstGeom prst="rect">
            <a:avLst/>
          </a:prstGeom>
          <a:solidFill>
            <a:srgbClr val="2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B543D29-5216-0C16-7DB9-5C0EE883A1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12" r="11722" b="12189"/>
          <a:stretch>
            <a:fillRect/>
          </a:stretch>
        </p:blipFill>
        <p:spPr>
          <a:xfrm>
            <a:off x="7700380" y="4331302"/>
            <a:ext cx="3199383" cy="165274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946323E-4EE8-DC9A-8D32-F166055661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40" r="11164" b="11268"/>
          <a:stretch>
            <a:fillRect/>
          </a:stretch>
        </p:blipFill>
        <p:spPr>
          <a:xfrm>
            <a:off x="825496" y="4300568"/>
            <a:ext cx="3199383" cy="165274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F88ABAE-0860-D883-41ED-3333001952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85" r="11351" b="14229"/>
          <a:stretch>
            <a:fillRect/>
          </a:stretch>
        </p:blipFill>
        <p:spPr>
          <a:xfrm>
            <a:off x="4262938" y="4362036"/>
            <a:ext cx="3199383" cy="15912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309571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F5F8FC"/>
                </a:solidFill>
                <a:latin typeface="Malgun Gothic"/>
              </a:rPr>
              <a:t>기능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설명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② UI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구성</a:t>
            </a:r>
            <a:endParaRPr sz="2400" b="1" dirty="0">
              <a:solidFill>
                <a:srgbClr val="F5F8FC"/>
              </a:solidFill>
              <a:latin typeface="Malgun Gothic"/>
            </a:endParaRPr>
          </a:p>
          <a:p>
            <a:pPr>
              <a:defRPr sz="1000">
                <a:solidFill>
                  <a:srgbClr val="BEC9D6"/>
                </a:solidFill>
                <a:latin typeface="Malgun Gothic"/>
              </a:defRPr>
            </a:pPr>
            <a:r>
              <a:rPr sz="1200" dirty="0" err="1"/>
              <a:t>선택</a:t>
            </a:r>
            <a:r>
              <a:rPr sz="1200" dirty="0"/>
              <a:t>, </a:t>
            </a:r>
            <a:r>
              <a:rPr sz="1200" dirty="0" err="1"/>
              <a:t>상태</a:t>
            </a:r>
            <a:r>
              <a:rPr sz="1200" dirty="0"/>
              <a:t> </a:t>
            </a:r>
            <a:r>
              <a:rPr sz="1200" dirty="0" err="1"/>
              <a:t>해석</a:t>
            </a:r>
            <a:r>
              <a:rPr sz="1200" dirty="0"/>
              <a:t>, Live View, </a:t>
            </a:r>
            <a:r>
              <a:rPr sz="1200" dirty="0" err="1"/>
              <a:t>확대</a:t>
            </a:r>
            <a:endParaRPr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124712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BEC9D6"/>
                </a:solidFill>
                <a:latin typeface="Malgun Gothic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725506"/>
            <a:ext cx="3429000" cy="4830741"/>
          </a:xfrm>
          <a:prstGeom prst="roundRect">
            <a:avLst>
              <a:gd name="adj" fmla="val 2000"/>
            </a:avLst>
          </a:prstGeom>
          <a:solidFill>
            <a:srgbClr val="141E2D"/>
          </a:solidFill>
          <a:ln>
            <a:solidFill>
              <a:srgbClr val="46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863840" y="128016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BEC9D6"/>
                </a:solidFill>
                <a:latin typeface="Malgun Gothic"/>
              </a:rPr>
              <a:t>Right Panel / Live Conveyor</a:t>
            </a:r>
          </a:p>
        </p:txBody>
      </p:sp>
      <p:pic>
        <p:nvPicPr>
          <p:cNvPr id="7" name="Picture 6" descr="righ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4852" y="1776309"/>
            <a:ext cx="1486748" cy="47087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7333" y="1750908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192B44"/>
          </a:solidFill>
          <a:ln w="15875">
            <a:solidFill>
              <a:srgbClr val="46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41925" y="1860636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4D2FF"/>
                </a:solidFill>
                <a:latin typeface="Malgun Gothic"/>
              </a:rPr>
              <a:t>Left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061" y="2134956"/>
            <a:ext cx="3017520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Box_01 ~ Box_16 </a:t>
            </a:r>
            <a:r>
              <a:rPr dirty="0" err="1"/>
              <a:t>버튼</a:t>
            </a:r>
            <a:endParaRPr dirty="0"/>
          </a:p>
          <a:p>
            <a:pPr>
              <a:lnSpc>
                <a:spcPct val="15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</a:t>
            </a:r>
            <a:r>
              <a:rPr err="1"/>
              <a:t>선택</a:t>
            </a:r>
            <a:r>
              <a:t> 오브젝트 </a:t>
            </a:r>
            <a:endParaRPr lang="en-US" dirty="0"/>
          </a:p>
          <a:p>
            <a:pPr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Detail / Focus / Live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52053" y="1750908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192B44"/>
          </a:solidFill>
          <a:ln w="15875">
            <a:solidFill>
              <a:srgbClr val="46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316645" y="1860636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4D2FF"/>
                </a:solidFill>
                <a:latin typeface="Malgun Gothic"/>
              </a:rPr>
              <a:t>Top &amp; Center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2276526"/>
            <a:ext cx="3265085" cy="1189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Position / Rotation / Scale</a:t>
            </a:r>
          </a:p>
          <a:p>
            <a:pPr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Current / Min / Max / Frame Range </a:t>
            </a:r>
            <a:endParaRPr lang="en-US" dirty="0"/>
          </a:p>
          <a:p>
            <a:pPr>
              <a:lnSpc>
                <a:spcPct val="15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Overview / Detail / Focus 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677333" y="3991188"/>
            <a:ext cx="6766560" cy="2565060"/>
          </a:xfrm>
          <a:prstGeom prst="roundRect">
            <a:avLst>
              <a:gd name="adj" fmla="val 8000"/>
            </a:avLst>
          </a:prstGeom>
          <a:solidFill>
            <a:srgbClr val="192B44"/>
          </a:solidFill>
          <a:ln w="15875">
            <a:solidFill>
              <a:srgbClr val="46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41925" y="4100916"/>
            <a:ext cx="6437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4FD696"/>
                </a:solidFill>
                <a:latin typeface="Malgun Gothic"/>
              </a:rPr>
              <a:t>Right Panel / Zoom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925" y="4402668"/>
            <a:ext cx="6492240" cy="2019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Selected / Metric / Status 및 State / Meaning / Risk / Insight 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Live Conveyor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 </a:t>
            </a:r>
            <a:r>
              <a:rPr dirty="0" err="1"/>
              <a:t>보기로</a:t>
            </a:r>
            <a:r>
              <a:rPr dirty="0"/>
              <a:t> </a:t>
            </a:r>
            <a:r>
              <a:rPr dirty="0" err="1"/>
              <a:t>전환</a:t>
            </a:r>
            <a:endParaRPr dirty="0"/>
          </a:p>
          <a:p>
            <a:pPr>
              <a:lnSpc>
                <a:spcPct val="20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정면</a:t>
            </a:r>
            <a:r>
              <a:rPr dirty="0"/>
              <a:t> / </a:t>
            </a:r>
            <a:r>
              <a:rPr dirty="0" err="1"/>
              <a:t>측면</a:t>
            </a:r>
            <a:r>
              <a:rPr dirty="0"/>
              <a:t> / </a:t>
            </a:r>
            <a:r>
              <a:rPr dirty="0" err="1"/>
              <a:t>사선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 </a:t>
            </a:r>
            <a:endParaRPr lang="en-US" dirty="0"/>
          </a:p>
          <a:p>
            <a:pPr>
              <a:lnSpc>
                <a:spcPct val="20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lang="en-US" altLang="ko-KR" dirty="0"/>
              <a:t>• Close </a:t>
            </a:r>
            <a:r>
              <a:rPr lang="ko-KR" altLang="en-US" dirty="0"/>
              <a:t>버튼으로 복귀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653B02A-E558-FA97-A359-6CA7CF52DB96}"/>
              </a:ext>
            </a:extLst>
          </p:cNvPr>
          <p:cNvSpPr/>
          <p:nvPr/>
        </p:nvSpPr>
        <p:spPr>
          <a:xfrm>
            <a:off x="457200" y="949960"/>
            <a:ext cx="11155680" cy="45720"/>
          </a:xfrm>
          <a:prstGeom prst="rect">
            <a:avLst/>
          </a:prstGeom>
          <a:solidFill>
            <a:srgbClr val="2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424988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F5F8FC"/>
                </a:solidFill>
                <a:latin typeface="Malgun Gothic"/>
              </a:rPr>
              <a:t>기능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설명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③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저장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/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불러오기</a:t>
            </a:r>
            <a:endParaRPr sz="2400" b="1" dirty="0">
              <a:solidFill>
                <a:srgbClr val="F5F8FC"/>
              </a:solidFill>
              <a:latin typeface="Malgun Gothic"/>
            </a:endParaRPr>
          </a:p>
          <a:p>
            <a:pPr>
              <a:defRPr sz="1000">
                <a:solidFill>
                  <a:srgbClr val="BEC9D6"/>
                </a:solidFill>
                <a:latin typeface="Malgun Gothic"/>
              </a:defRPr>
            </a:pPr>
            <a:r>
              <a:rPr sz="1200" dirty="0" err="1"/>
              <a:t>파일</a:t>
            </a:r>
            <a:r>
              <a:rPr sz="1200" dirty="0"/>
              <a:t> </a:t>
            </a:r>
            <a:r>
              <a:rPr sz="1200" dirty="0" err="1"/>
              <a:t>브라우저</a:t>
            </a:r>
            <a:r>
              <a:rPr sz="1200" dirty="0"/>
              <a:t> </a:t>
            </a:r>
            <a:r>
              <a:rPr sz="1200" dirty="0" err="1"/>
              <a:t>기반</a:t>
            </a:r>
            <a:r>
              <a:rPr sz="1200" dirty="0"/>
              <a:t> JSON ·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BEC9D6"/>
                </a:solidFill>
                <a:latin typeface="Malgun Gothic"/>
              </a:rPr>
              <a:t>7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4BAE10E-DF2E-71F8-A7B6-CF7613E26C86}"/>
              </a:ext>
            </a:extLst>
          </p:cNvPr>
          <p:cNvGrpSpPr/>
          <p:nvPr/>
        </p:nvGrpSpPr>
        <p:grpSpPr>
          <a:xfrm>
            <a:off x="640080" y="1273388"/>
            <a:ext cx="10701482" cy="1920240"/>
            <a:chOff x="640080" y="1273388"/>
            <a:chExt cx="10972800" cy="1920240"/>
          </a:xfrm>
        </p:grpSpPr>
        <p:sp>
          <p:nvSpPr>
            <p:cNvPr id="5" name="Rounded Rectangle 4"/>
            <p:cNvSpPr/>
            <p:nvPr/>
          </p:nvSpPr>
          <p:spPr>
            <a:xfrm>
              <a:off x="640080" y="1273388"/>
              <a:ext cx="10972800" cy="1920240"/>
            </a:xfrm>
            <a:prstGeom prst="roundRect">
              <a:avLst>
                <a:gd name="adj" fmla="val 2000"/>
              </a:avLst>
            </a:prstGeom>
            <a:solidFill>
              <a:srgbClr val="141E2D"/>
            </a:solidFill>
            <a:ln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1344507"/>
              <a:ext cx="10881360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dirty="0" err="1">
                  <a:solidFill>
                    <a:srgbClr val="BEC9D6"/>
                  </a:solidFill>
                  <a:latin typeface="Malgun Gothic"/>
                </a:rPr>
                <a:t>하단</a:t>
              </a:r>
              <a:r>
                <a:rPr sz="1200" b="1" dirty="0">
                  <a:solidFill>
                    <a:srgbClr val="BEC9D6"/>
                  </a:solidFill>
                  <a:latin typeface="Malgun Gothic"/>
                </a:rPr>
                <a:t> File Browser Panel</a:t>
              </a:r>
            </a:p>
          </p:txBody>
        </p:sp>
        <p:pic>
          <p:nvPicPr>
            <p:cNvPr id="7" name="Picture 6" descr="bottom_browser.png"/>
            <p:cNvPicPr>
              <a:picLocks noChangeAspect="1"/>
            </p:cNvPicPr>
            <p:nvPr/>
          </p:nvPicPr>
          <p:blipFill>
            <a:blip r:embed="rId2"/>
            <a:srcRect t="11718" b="8092"/>
            <a:stretch>
              <a:fillRect/>
            </a:stretch>
          </p:blipFill>
          <p:spPr>
            <a:xfrm>
              <a:off x="685800" y="1767841"/>
              <a:ext cx="10927080" cy="931333"/>
            </a:xfrm>
            <a:prstGeom prst="rect">
              <a:avLst/>
            </a:prstGeom>
          </p:spPr>
        </p:pic>
      </p:grpSp>
      <p:sp>
        <p:nvSpPr>
          <p:cNvPr id="8" name="Rounded Rectangle 7"/>
          <p:cNvSpPr/>
          <p:nvPr/>
        </p:nvSpPr>
        <p:spPr>
          <a:xfrm>
            <a:off x="640080" y="3474720"/>
            <a:ext cx="4067001" cy="2959946"/>
          </a:xfrm>
          <a:prstGeom prst="roundRect">
            <a:avLst>
              <a:gd name="adj" fmla="val 8000"/>
            </a:avLst>
          </a:prstGeom>
          <a:solidFill>
            <a:srgbClr val="192B44"/>
          </a:solidFill>
          <a:ln w="15875">
            <a:solidFill>
              <a:srgbClr val="46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04672" y="3584448"/>
            <a:ext cx="5065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24D2FF"/>
                </a:solidFill>
                <a:latin typeface="Malgun Gothic"/>
              </a:rPr>
              <a:t>지원</a:t>
            </a:r>
            <a:r>
              <a:rPr sz="1600" b="1" dirty="0">
                <a:solidFill>
                  <a:srgbClr val="24D2F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24D2FF"/>
                </a:solidFill>
                <a:latin typeface="Malgun Gothic"/>
              </a:rPr>
              <a:t>기능</a:t>
            </a:r>
            <a:endParaRPr sz="1600" b="1" dirty="0">
              <a:solidFill>
                <a:srgbClr val="24D2FF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4021667"/>
            <a:ext cx="5120640" cy="2019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Show JSON / Show CSV / Refresh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Save JSON / Save CSV / Load Selected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, Status </a:t>
            </a:r>
            <a:r>
              <a:rPr dirty="0" err="1"/>
              <a:t>문구</a:t>
            </a:r>
            <a:r>
              <a:rPr dirty="0"/>
              <a:t> </a:t>
            </a:r>
            <a:r>
              <a:rPr dirty="0" err="1"/>
              <a:t>표시</a:t>
            </a:r>
            <a:endParaRPr dirty="0"/>
          </a:p>
          <a:p>
            <a:pPr>
              <a:lnSpc>
                <a:spcPct val="20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저장</a:t>
            </a:r>
            <a:r>
              <a:rPr dirty="0"/>
              <a:t> 후 </a:t>
            </a:r>
            <a:r>
              <a:rPr dirty="0" err="1"/>
              <a:t>목록</a:t>
            </a:r>
            <a:r>
              <a:rPr dirty="0"/>
              <a:t> </a:t>
            </a:r>
            <a:r>
              <a:rPr dirty="0" err="1"/>
              <a:t>갱신</a:t>
            </a:r>
            <a:r>
              <a:rPr dirty="0"/>
              <a:t> 및 </a:t>
            </a:r>
            <a:r>
              <a:rPr dirty="0" err="1"/>
              <a:t>재로드</a:t>
            </a:r>
            <a:r>
              <a:rPr dirty="0"/>
              <a:t> </a:t>
            </a:r>
            <a:r>
              <a:rPr dirty="0" err="1"/>
              <a:t>지원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871674" y="3474719"/>
            <a:ext cx="6469888" cy="2959947"/>
          </a:xfrm>
          <a:prstGeom prst="roundRect">
            <a:avLst>
              <a:gd name="adj" fmla="val 8000"/>
            </a:avLst>
          </a:prstGeom>
          <a:solidFill>
            <a:srgbClr val="192B44"/>
          </a:solidFill>
          <a:ln w="15875">
            <a:solidFill>
              <a:srgbClr val="46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978400" y="3643828"/>
            <a:ext cx="64698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4FD696"/>
                </a:solidFill>
                <a:latin typeface="Malgun Gothic"/>
              </a:rPr>
              <a:t>데이터</a:t>
            </a:r>
            <a:r>
              <a:rPr sz="1600" b="1" dirty="0">
                <a:solidFill>
                  <a:srgbClr val="4FD696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4FD696"/>
                </a:solidFill>
                <a:latin typeface="Malgun Gothic"/>
              </a:rPr>
              <a:t>구조</a:t>
            </a:r>
            <a:endParaRPr sz="1600" b="1" dirty="0">
              <a:solidFill>
                <a:srgbClr val="4FD696"/>
              </a:solidFill>
              <a:latin typeface="Malgun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36265" y="4021667"/>
            <a:ext cx="6576615" cy="2019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TransformFrameData</a:t>
            </a:r>
            <a:r>
              <a:rPr lang="en-US" dirty="0"/>
              <a:t>: </a:t>
            </a:r>
            <a:r>
              <a:rPr dirty="0" err="1"/>
              <a:t>frameIndex</a:t>
            </a:r>
            <a:r>
              <a:rPr dirty="0"/>
              <a:t>, </a:t>
            </a:r>
            <a:r>
              <a:rPr dirty="0" err="1"/>
              <a:t>timeStamp</a:t>
            </a:r>
            <a:r>
              <a:rPr dirty="0"/>
              <a:t>, pos / rot / scale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JSON: Session → Objects → Frames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CSV</a:t>
            </a:r>
            <a:r>
              <a:rPr lang="en-US" dirty="0" err="1"/>
              <a:t>:</a:t>
            </a:r>
            <a:r>
              <a:rPr dirty="0" err="1"/>
              <a:t>ObjectName</a:t>
            </a:r>
            <a:r>
              <a:rPr dirty="0"/>
              <a:t>, </a:t>
            </a:r>
            <a:r>
              <a:rPr dirty="0" err="1"/>
              <a:t>FrameIndex</a:t>
            </a:r>
            <a:r>
              <a:rPr dirty="0"/>
              <a:t>, </a:t>
            </a:r>
            <a:r>
              <a:rPr dirty="0" err="1"/>
              <a:t>TimeStamp</a:t>
            </a:r>
            <a:r>
              <a:rPr dirty="0"/>
              <a:t>, Pos/Rot/Scale XYZ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500">
                <a:solidFill>
                  <a:srgbClr val="F5F8FC"/>
                </a:solidFill>
                <a:latin typeface="Malgun Gothic"/>
              </a:defRPr>
            </a:pPr>
            <a:r>
              <a:rPr dirty="0"/>
              <a:t>• 16 Objects × 600 Frames </a:t>
            </a:r>
            <a:r>
              <a:rPr dirty="0" err="1"/>
              <a:t>이상</a:t>
            </a:r>
            <a:r>
              <a:rPr dirty="0"/>
              <a:t> = 9600 frames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8F82FD0-86C4-E07B-4AFA-A26EF2E2A582}"/>
              </a:ext>
            </a:extLst>
          </p:cNvPr>
          <p:cNvSpPr/>
          <p:nvPr/>
        </p:nvSpPr>
        <p:spPr>
          <a:xfrm>
            <a:off x="457200" y="949960"/>
            <a:ext cx="11155680" cy="45720"/>
          </a:xfrm>
          <a:prstGeom prst="rect">
            <a:avLst/>
          </a:prstGeom>
          <a:solidFill>
            <a:srgbClr val="2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97389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F5F8FC"/>
                </a:solidFill>
                <a:latin typeface="Malgun Gothic"/>
              </a:rPr>
              <a:t>테스트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결과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① </a:t>
            </a:r>
            <a:r>
              <a:rPr lang="ko-KR" altLang="en-US" sz="2400" b="1" dirty="0">
                <a:solidFill>
                  <a:srgbClr val="F5F8FC"/>
                </a:solidFill>
                <a:latin typeface="Malgun Gothic"/>
              </a:rPr>
              <a:t>요약</a:t>
            </a:r>
            <a:endParaRPr sz="2400" b="1" dirty="0">
              <a:solidFill>
                <a:srgbClr val="F5F8FC"/>
              </a:solidFill>
              <a:latin typeface="Malgun Gothic"/>
            </a:endParaRPr>
          </a:p>
          <a:p>
            <a:pPr>
              <a:defRPr sz="1000">
                <a:solidFill>
                  <a:srgbClr val="BEC9D6"/>
                </a:solidFill>
                <a:latin typeface="Malgun Gothic"/>
              </a:defRPr>
            </a:pPr>
            <a:r>
              <a:rPr sz="1200" dirty="0" err="1"/>
              <a:t>체크리스트</a:t>
            </a:r>
            <a:r>
              <a:rPr sz="1200" dirty="0"/>
              <a:t> </a:t>
            </a:r>
            <a:r>
              <a:rPr sz="1200" dirty="0" err="1"/>
              <a:t>기능</a:t>
            </a:r>
            <a:r>
              <a:rPr sz="1200" dirty="0"/>
              <a:t> </a:t>
            </a:r>
            <a:r>
              <a:rPr sz="1200" dirty="0" err="1"/>
              <a:t>검증</a:t>
            </a:r>
            <a:r>
              <a:rPr sz="1200" dirty="0"/>
              <a:t> </a:t>
            </a:r>
            <a:r>
              <a:rPr sz="1200" dirty="0" err="1"/>
              <a:t>결과</a:t>
            </a:r>
            <a:endParaRPr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124712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BEC9D6"/>
                </a:solidFill>
                <a:latin typeface="Malgun Gothic"/>
              </a:rPr>
              <a:t>8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9627F53-043B-9641-1A7E-8283A477AC84}"/>
              </a:ext>
            </a:extLst>
          </p:cNvPr>
          <p:cNvGrpSpPr/>
          <p:nvPr/>
        </p:nvGrpSpPr>
        <p:grpSpPr>
          <a:xfrm>
            <a:off x="837685" y="1556222"/>
            <a:ext cx="3393925" cy="1962525"/>
            <a:chOff x="640080" y="1234440"/>
            <a:chExt cx="2971800" cy="1737360"/>
          </a:xfrm>
        </p:grpSpPr>
        <p:sp>
          <p:nvSpPr>
            <p:cNvPr id="5" name="Rounded Rectangle 4"/>
            <p:cNvSpPr/>
            <p:nvPr/>
          </p:nvSpPr>
          <p:spPr>
            <a:xfrm>
              <a:off x="640080" y="1234440"/>
              <a:ext cx="2971800" cy="1737360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04671" y="1380744"/>
              <a:ext cx="146304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dirty="0" err="1">
                  <a:solidFill>
                    <a:srgbClr val="F5F8FC"/>
                  </a:solidFill>
                  <a:latin typeface="Malgun Gothic"/>
                </a:rPr>
                <a:t>실행</a:t>
              </a:r>
              <a:r>
                <a:rPr sz="1500" b="1" dirty="0">
                  <a:solidFill>
                    <a:srgbClr val="F5F8FC"/>
                  </a:solidFill>
                  <a:latin typeface="Malgun Gothic"/>
                </a:rPr>
                <a:t> </a:t>
              </a:r>
              <a:r>
                <a:rPr sz="1500" b="1" dirty="0" err="1">
                  <a:solidFill>
                    <a:srgbClr val="F5F8FC"/>
                  </a:solidFill>
                  <a:latin typeface="Malgun Gothic"/>
                </a:rPr>
                <a:t>기본</a:t>
              </a:r>
              <a:r>
                <a:rPr sz="1500" b="1" dirty="0">
                  <a:solidFill>
                    <a:srgbClr val="F5F8FC"/>
                  </a:solidFill>
                  <a:latin typeface="Malgun Gothic"/>
                </a:rPr>
                <a:t> </a:t>
              </a:r>
              <a:r>
                <a:rPr sz="1500" b="1" dirty="0" err="1">
                  <a:solidFill>
                    <a:srgbClr val="F5F8FC"/>
                  </a:solidFill>
                  <a:latin typeface="Malgun Gothic"/>
                </a:rPr>
                <a:t>상태</a:t>
              </a:r>
              <a:endParaRPr sz="1500" b="1" dirty="0">
                <a:solidFill>
                  <a:srgbClr val="F5F8FC"/>
                </a:solidFill>
                <a:latin typeface="Malgun Gothic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468880" y="1362456"/>
              <a:ext cx="9144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sz="1600" b="1" dirty="0" err="1">
                  <a:solidFill>
                    <a:srgbClr val="4FD696"/>
                  </a:solidFill>
                  <a:latin typeface="Malgun Gothic"/>
                </a:rPr>
                <a:t>통과</a:t>
              </a:r>
              <a:endParaRPr sz="1600" b="1" dirty="0">
                <a:solidFill>
                  <a:srgbClr val="4FD696"/>
                </a:solidFill>
                <a:latin typeface="Malgun Gothic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" y="1845595"/>
              <a:ext cx="297146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0" dirty="0">
                  <a:solidFill>
                    <a:srgbClr val="BEC9D6"/>
                  </a:solidFill>
                  <a:latin typeface="Malgun Gothic"/>
                </a:rPr>
                <a:t>Console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에러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0</a:t>
              </a:r>
              <a:endParaRPr lang="en-US" b="0" dirty="0">
                <a:solidFill>
                  <a:srgbClr val="BEC9D6"/>
                </a:solidFill>
                <a:latin typeface="Malgun Gothic"/>
              </a:endParaRPr>
            </a:p>
            <a:p>
              <a:pPr algn="ctr"/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시스템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정상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시작</a:t>
              </a:r>
              <a:endParaRPr lang="en-US" dirty="0">
                <a:solidFill>
                  <a:srgbClr val="BEC9D6"/>
                </a:solidFill>
                <a:latin typeface="Malgun Gothic"/>
              </a:endParaRPr>
            </a:p>
            <a:p>
              <a:pPr algn="ctr"/>
              <a:r>
                <a:rPr b="0" dirty="0">
                  <a:solidFill>
                    <a:srgbClr val="BEC9D6"/>
                  </a:solidFill>
                  <a:latin typeface="Malgun Gothic"/>
                </a:rPr>
                <a:t>16개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박스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순환</a:t>
              </a:r>
              <a:endParaRPr b="0" dirty="0">
                <a:solidFill>
                  <a:srgbClr val="BEC9D6"/>
                </a:solidFill>
                <a:latin typeface="Malgun Gothic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7AFB979-2E45-83E8-9F1A-8834456CBCF8}"/>
              </a:ext>
            </a:extLst>
          </p:cNvPr>
          <p:cNvGrpSpPr/>
          <p:nvPr/>
        </p:nvGrpSpPr>
        <p:grpSpPr>
          <a:xfrm>
            <a:off x="4359096" y="1575007"/>
            <a:ext cx="3393925" cy="1962525"/>
            <a:chOff x="3977639" y="1234440"/>
            <a:chExt cx="2971800" cy="1737360"/>
          </a:xfrm>
        </p:grpSpPr>
        <p:sp>
          <p:nvSpPr>
            <p:cNvPr id="9" name="Rounded Rectangle 8"/>
            <p:cNvSpPr/>
            <p:nvPr/>
          </p:nvSpPr>
          <p:spPr>
            <a:xfrm>
              <a:off x="3977639" y="1234440"/>
              <a:ext cx="2971800" cy="1737360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2231" y="1380744"/>
              <a:ext cx="146304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dirty="0" err="1">
                  <a:solidFill>
                    <a:srgbClr val="F5F8FC"/>
                  </a:solidFill>
                  <a:latin typeface="Malgun Gothic"/>
                </a:rPr>
                <a:t>그래프</a:t>
              </a:r>
              <a:r>
                <a:rPr sz="1500" b="1" dirty="0">
                  <a:solidFill>
                    <a:srgbClr val="F5F8FC"/>
                  </a:solidFill>
                  <a:latin typeface="Malgun Gothic"/>
                </a:rPr>
                <a:t> UI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06440" y="1362456"/>
              <a:ext cx="9144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sz="1600" b="1" dirty="0" err="1">
                  <a:solidFill>
                    <a:srgbClr val="4FD696"/>
                  </a:solidFill>
                  <a:latin typeface="Malgun Gothic"/>
                </a:rPr>
                <a:t>통과</a:t>
              </a:r>
              <a:endParaRPr sz="1600" b="1" dirty="0">
                <a:solidFill>
                  <a:srgbClr val="4FD696"/>
                </a:solidFill>
                <a:latin typeface="Malgun Gothic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77639" y="1968192"/>
              <a:ext cx="29718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0" dirty="0">
                  <a:solidFill>
                    <a:srgbClr val="BEC9D6"/>
                  </a:solidFill>
                  <a:latin typeface="Malgun Gothic"/>
                </a:rPr>
                <a:t>Overview / Detail / Focus </a:t>
              </a:r>
              <a:endParaRPr lang="en-US" b="0" dirty="0">
                <a:solidFill>
                  <a:srgbClr val="BEC9D6"/>
                </a:solidFill>
                <a:latin typeface="Malgun Gothic"/>
              </a:endParaRPr>
            </a:p>
            <a:p>
              <a:pPr algn="ctr"/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카테고리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및 축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전환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정상</a:t>
              </a:r>
              <a:endParaRPr b="0" dirty="0">
                <a:solidFill>
                  <a:srgbClr val="BEC9D6"/>
                </a:solidFill>
                <a:latin typeface="Malgun Gothic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9B7A75D-85D2-D642-CBFE-42794BCBE642}"/>
              </a:ext>
            </a:extLst>
          </p:cNvPr>
          <p:cNvGrpSpPr/>
          <p:nvPr/>
        </p:nvGrpSpPr>
        <p:grpSpPr>
          <a:xfrm>
            <a:off x="7883557" y="1556221"/>
            <a:ext cx="3393927" cy="1962525"/>
            <a:chOff x="7315198" y="1234440"/>
            <a:chExt cx="2971802" cy="1737360"/>
          </a:xfrm>
        </p:grpSpPr>
        <p:sp>
          <p:nvSpPr>
            <p:cNvPr id="13" name="Rounded Rectangle 12"/>
            <p:cNvSpPr/>
            <p:nvPr/>
          </p:nvSpPr>
          <p:spPr>
            <a:xfrm>
              <a:off x="7315200" y="1234440"/>
              <a:ext cx="2971800" cy="1737360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479792" y="1380743"/>
              <a:ext cx="2807208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dirty="0">
                  <a:solidFill>
                    <a:srgbClr val="F5F8FC"/>
                  </a:solidFill>
                  <a:latin typeface="Malgun Gothic"/>
                </a:rPr>
                <a:t>Live View / </a:t>
              </a:r>
              <a:endParaRPr lang="en-US" sz="1500" b="1" dirty="0">
                <a:solidFill>
                  <a:srgbClr val="F5F8FC"/>
                </a:solidFill>
                <a:latin typeface="Malgun Gothic"/>
              </a:endParaRPr>
            </a:p>
            <a:p>
              <a:pPr algn="l"/>
              <a:r>
                <a:rPr sz="1500" b="1" dirty="0">
                  <a:solidFill>
                    <a:srgbClr val="F5F8FC"/>
                  </a:solidFill>
                  <a:latin typeface="Malgun Gothic"/>
                </a:rPr>
                <a:t>Right Panel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44000" y="1362456"/>
              <a:ext cx="9144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sz="1600" b="1" dirty="0" err="1">
                  <a:solidFill>
                    <a:srgbClr val="4FD696"/>
                  </a:solidFill>
                  <a:latin typeface="Malgun Gothic"/>
                </a:rPr>
                <a:t>통과</a:t>
              </a:r>
              <a:endParaRPr sz="1600" b="1" dirty="0">
                <a:solidFill>
                  <a:srgbClr val="4FD696"/>
                </a:solidFill>
                <a:latin typeface="Malgun Gothic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15198" y="2002087"/>
              <a:ext cx="29718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0" dirty="0">
                  <a:solidFill>
                    <a:srgbClr val="BEC9D6"/>
                  </a:solidFill>
                  <a:latin typeface="Malgun Gothic"/>
                </a:rPr>
                <a:t>Selected / Metric / Status </a:t>
              </a:r>
              <a:endParaRPr lang="en-US" b="0" dirty="0">
                <a:solidFill>
                  <a:srgbClr val="BEC9D6"/>
                </a:solidFill>
                <a:latin typeface="Malgun Gothic"/>
              </a:endParaRPr>
            </a:p>
            <a:p>
              <a:pPr algn="ctr"/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상태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해석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문구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정상</a:t>
              </a:r>
              <a:endParaRPr b="0" dirty="0">
                <a:solidFill>
                  <a:srgbClr val="BEC9D6"/>
                </a:solidFill>
                <a:latin typeface="Malgun Gothic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55B8DA1-B9E9-2EE4-8F2D-3F64235AD264}"/>
              </a:ext>
            </a:extLst>
          </p:cNvPr>
          <p:cNvGrpSpPr/>
          <p:nvPr/>
        </p:nvGrpSpPr>
        <p:grpSpPr>
          <a:xfrm>
            <a:off x="808230" y="3918373"/>
            <a:ext cx="3397792" cy="1962525"/>
            <a:chOff x="636693" y="3383280"/>
            <a:chExt cx="2975187" cy="1737360"/>
          </a:xfrm>
        </p:grpSpPr>
        <p:sp>
          <p:nvSpPr>
            <p:cNvPr id="17" name="Rounded Rectangle 16"/>
            <p:cNvSpPr/>
            <p:nvPr/>
          </p:nvSpPr>
          <p:spPr>
            <a:xfrm>
              <a:off x="640080" y="3383280"/>
              <a:ext cx="2971800" cy="1737360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04670" y="3529584"/>
              <a:ext cx="2807207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dirty="0" err="1">
                  <a:solidFill>
                    <a:srgbClr val="F5F8FC"/>
                  </a:solidFill>
                  <a:latin typeface="Malgun Gothic"/>
                </a:rPr>
                <a:t>저장</a:t>
              </a:r>
              <a:r>
                <a:rPr sz="1500" b="1" dirty="0">
                  <a:solidFill>
                    <a:srgbClr val="F5F8FC"/>
                  </a:solidFill>
                  <a:latin typeface="Malgun Gothic"/>
                </a:rPr>
                <a:t> / </a:t>
              </a:r>
              <a:r>
                <a:rPr sz="1500" b="1" dirty="0" err="1">
                  <a:solidFill>
                    <a:srgbClr val="F5F8FC"/>
                  </a:solidFill>
                  <a:latin typeface="Malgun Gothic"/>
                </a:rPr>
                <a:t>불러오기</a:t>
              </a:r>
              <a:endParaRPr sz="1500" b="1" dirty="0">
                <a:solidFill>
                  <a:srgbClr val="F5F8FC"/>
                </a:solidFill>
                <a:latin typeface="Malgun Gothic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468880" y="3511296"/>
              <a:ext cx="9144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sz="1600" b="1" dirty="0" err="1">
                  <a:solidFill>
                    <a:srgbClr val="4FD696"/>
                  </a:solidFill>
                  <a:latin typeface="Malgun Gothic"/>
                </a:rPr>
                <a:t>통과</a:t>
              </a:r>
              <a:endParaRPr sz="1600" b="1" dirty="0">
                <a:solidFill>
                  <a:srgbClr val="4FD696"/>
                </a:solidFill>
                <a:latin typeface="Malgun Gothic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36693" y="4104564"/>
              <a:ext cx="297146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0" dirty="0">
                  <a:solidFill>
                    <a:srgbClr val="BEC9D6"/>
                  </a:solidFill>
                  <a:latin typeface="Malgun Gothic"/>
                </a:rPr>
                <a:t>JSON / CSV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저장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endParaRPr lang="en-US" b="0" dirty="0">
                <a:solidFill>
                  <a:srgbClr val="BEC9D6"/>
                </a:solidFill>
                <a:latin typeface="Malgun Gothic"/>
              </a:endParaRPr>
            </a:p>
            <a:p>
              <a:pPr algn="ctr"/>
              <a:r>
                <a:rPr b="0" dirty="0">
                  <a:solidFill>
                    <a:srgbClr val="BEC9D6"/>
                  </a:solidFill>
                  <a:latin typeface="Malgun Gothic"/>
                </a:rPr>
                <a:t>Load Selected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동작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확인</a:t>
              </a:r>
              <a:endParaRPr b="0" dirty="0">
                <a:solidFill>
                  <a:srgbClr val="BEC9D6"/>
                </a:solidFill>
                <a:latin typeface="Malgun Gothic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C790E26-3FBA-3D46-B621-1BE2B97C3BA4}"/>
              </a:ext>
            </a:extLst>
          </p:cNvPr>
          <p:cNvGrpSpPr/>
          <p:nvPr/>
        </p:nvGrpSpPr>
        <p:grpSpPr>
          <a:xfrm>
            <a:off x="4359096" y="3898872"/>
            <a:ext cx="3398180" cy="1962525"/>
            <a:chOff x="3973913" y="3383280"/>
            <a:chExt cx="2975526" cy="1737360"/>
          </a:xfrm>
        </p:grpSpPr>
        <p:sp>
          <p:nvSpPr>
            <p:cNvPr id="21" name="Rounded Rectangle 20"/>
            <p:cNvSpPr/>
            <p:nvPr/>
          </p:nvSpPr>
          <p:spPr>
            <a:xfrm>
              <a:off x="3977639" y="3383280"/>
              <a:ext cx="2971800" cy="1737360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142231" y="3529584"/>
              <a:ext cx="146304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dirty="0" err="1">
                  <a:solidFill>
                    <a:srgbClr val="F5F8FC"/>
                  </a:solidFill>
                  <a:latin typeface="Malgun Gothic"/>
                </a:rPr>
                <a:t>성능</a:t>
              </a:r>
              <a:endParaRPr sz="1500" b="1" dirty="0">
                <a:solidFill>
                  <a:srgbClr val="F5F8FC"/>
                </a:solidFill>
                <a:latin typeface="Malgun Gothic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545667" y="3511296"/>
              <a:ext cx="117517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sz="1600" b="1" dirty="0" err="1">
                  <a:solidFill>
                    <a:srgbClr val="FFC957"/>
                  </a:solidFill>
                  <a:latin typeface="Malgun Gothic"/>
                </a:rPr>
                <a:t>부분</a:t>
              </a:r>
              <a:r>
                <a:rPr sz="1600" b="1" dirty="0">
                  <a:solidFill>
                    <a:srgbClr val="FFC957"/>
                  </a:solidFill>
                  <a:latin typeface="Malgun Gothic"/>
                </a:rPr>
                <a:t> </a:t>
              </a:r>
              <a:r>
                <a:rPr sz="1600" b="1" dirty="0" err="1">
                  <a:solidFill>
                    <a:srgbClr val="FFC957"/>
                  </a:solidFill>
                  <a:latin typeface="Malgun Gothic"/>
                </a:rPr>
                <a:t>통과</a:t>
              </a:r>
              <a:endParaRPr sz="1600" b="1" dirty="0">
                <a:solidFill>
                  <a:srgbClr val="FFC957"/>
                </a:solidFill>
                <a:latin typeface="Malgun Gothic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73913" y="4023580"/>
              <a:ext cx="297552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일반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실행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안정</a:t>
              </a:r>
              <a:endParaRPr lang="en-US" dirty="0">
                <a:solidFill>
                  <a:srgbClr val="BEC9D6"/>
                </a:solidFill>
                <a:latin typeface="Malgun Gothic"/>
              </a:endParaRPr>
            </a:p>
            <a:p>
              <a:pPr algn="ctr"/>
              <a:r>
                <a:rPr b="0" dirty="0">
                  <a:solidFill>
                    <a:srgbClr val="BEC9D6"/>
                  </a:solidFill>
                  <a:latin typeface="Malgun Gothic"/>
                </a:rPr>
                <a:t>Save JSON / CSV </a:t>
              </a:r>
              <a:endParaRPr lang="en-US" b="0" dirty="0">
                <a:solidFill>
                  <a:srgbClr val="BEC9D6"/>
                </a:solidFill>
                <a:latin typeface="Malgun Gothic"/>
              </a:endParaRPr>
            </a:p>
            <a:p>
              <a:pPr algn="ctr"/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클릭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시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순간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병목</a:t>
              </a:r>
              <a:endParaRPr b="0" dirty="0">
                <a:solidFill>
                  <a:srgbClr val="BEC9D6"/>
                </a:solidFill>
                <a:latin typeface="Malgun Gothic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40983A0-6EB0-04CB-EDEB-7AC21DAE546A}"/>
              </a:ext>
            </a:extLst>
          </p:cNvPr>
          <p:cNvGrpSpPr/>
          <p:nvPr/>
        </p:nvGrpSpPr>
        <p:grpSpPr>
          <a:xfrm>
            <a:off x="7883626" y="3892639"/>
            <a:ext cx="3393925" cy="1962525"/>
            <a:chOff x="7315200" y="3383280"/>
            <a:chExt cx="2971800" cy="1737360"/>
          </a:xfrm>
        </p:grpSpPr>
        <p:sp>
          <p:nvSpPr>
            <p:cNvPr id="25" name="Rounded Rectangle 24"/>
            <p:cNvSpPr/>
            <p:nvPr/>
          </p:nvSpPr>
          <p:spPr>
            <a:xfrm>
              <a:off x="7315200" y="3383280"/>
              <a:ext cx="2971800" cy="1737360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479792" y="3529584"/>
              <a:ext cx="146304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dirty="0" err="1">
                  <a:solidFill>
                    <a:srgbClr val="F5F8FC"/>
                  </a:solidFill>
                  <a:latin typeface="Malgun Gothic"/>
                </a:rPr>
                <a:t>빌드</a:t>
              </a:r>
              <a:endParaRPr sz="1500" b="1" dirty="0">
                <a:solidFill>
                  <a:srgbClr val="F5F8FC"/>
                </a:solidFill>
                <a:latin typeface="Malgun Gothic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144000" y="3511296"/>
              <a:ext cx="9144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sz="1600" b="1" dirty="0" err="1">
                  <a:solidFill>
                    <a:srgbClr val="4FD696"/>
                  </a:solidFill>
                  <a:latin typeface="Malgun Gothic"/>
                </a:rPr>
                <a:t>완료</a:t>
              </a:r>
              <a:endParaRPr sz="1600" b="1" dirty="0">
                <a:solidFill>
                  <a:srgbClr val="4FD696"/>
                </a:solidFill>
                <a:latin typeface="Malgun Gothic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15200" y="4176128"/>
              <a:ext cx="29718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최종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빌드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완료</a:t>
              </a:r>
              <a:r>
                <a:rPr b="0" dirty="0">
                  <a:solidFill>
                    <a:srgbClr val="BEC9D6"/>
                  </a:solidFill>
                  <a:latin typeface="Malgun Gothic"/>
                </a:rPr>
                <a:t> 및 </a:t>
              </a:r>
              <a:r>
                <a:rPr b="0" dirty="0" err="1">
                  <a:solidFill>
                    <a:srgbClr val="BEC9D6"/>
                  </a:solidFill>
                  <a:latin typeface="Malgun Gothic"/>
                </a:rPr>
                <a:t>실행</a:t>
              </a:r>
              <a:endParaRPr b="0" dirty="0">
                <a:solidFill>
                  <a:srgbClr val="BEC9D6"/>
                </a:solidFill>
                <a:latin typeface="Malgun Gothic"/>
              </a:endParaRPr>
            </a:p>
          </p:txBody>
        </p:sp>
      </p:grpSp>
      <p:sp>
        <p:nvSpPr>
          <p:cNvPr id="30" name="Rectangle 2">
            <a:extLst>
              <a:ext uri="{FF2B5EF4-FFF2-40B4-BE49-F238E27FC236}">
                <a16:creationId xmlns:a16="http://schemas.microsoft.com/office/drawing/2014/main" id="{AE564A3E-3C54-AE35-A612-E71BB4E38584}"/>
              </a:ext>
            </a:extLst>
          </p:cNvPr>
          <p:cNvSpPr/>
          <p:nvPr/>
        </p:nvSpPr>
        <p:spPr>
          <a:xfrm>
            <a:off x="457200" y="949960"/>
            <a:ext cx="11155680" cy="45720"/>
          </a:xfrm>
          <a:prstGeom prst="rect">
            <a:avLst/>
          </a:prstGeom>
          <a:solidFill>
            <a:srgbClr val="2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369844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F5F8FC"/>
                </a:solidFill>
                <a:latin typeface="Malgun Gothic"/>
              </a:rPr>
              <a:t>테스트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결과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②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성능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분석</a:t>
            </a:r>
            <a:endParaRPr sz="2400" b="1" dirty="0">
              <a:solidFill>
                <a:srgbClr val="F5F8FC"/>
              </a:solidFill>
              <a:latin typeface="Malgun Gothic"/>
            </a:endParaRPr>
          </a:p>
          <a:p>
            <a:pPr>
              <a:defRPr sz="1000">
                <a:solidFill>
                  <a:srgbClr val="BEC9D6"/>
                </a:solidFill>
                <a:latin typeface="Malgun Gothic"/>
              </a:defRPr>
            </a:pPr>
            <a:r>
              <a:rPr sz="1200" dirty="0"/>
              <a:t>Profiler </a:t>
            </a:r>
            <a:r>
              <a:rPr sz="1200" dirty="0" err="1"/>
              <a:t>결과</a:t>
            </a:r>
            <a:endParaRPr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124712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BEC9D6"/>
                </a:solidFill>
                <a:latin typeface="Malgun Gothic"/>
              </a:rPr>
              <a:t>9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6AB242A-BE41-0C5F-A1AC-B9D4F0B9C529}"/>
              </a:ext>
            </a:extLst>
          </p:cNvPr>
          <p:cNvSpPr/>
          <p:nvPr/>
        </p:nvSpPr>
        <p:spPr>
          <a:xfrm>
            <a:off x="457200" y="949960"/>
            <a:ext cx="11155680" cy="45720"/>
          </a:xfrm>
          <a:prstGeom prst="rect">
            <a:avLst/>
          </a:prstGeom>
          <a:solidFill>
            <a:srgbClr val="2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9549E50-85E6-9693-913B-D5E5282A6779}"/>
              </a:ext>
            </a:extLst>
          </p:cNvPr>
          <p:cNvGrpSpPr/>
          <p:nvPr/>
        </p:nvGrpSpPr>
        <p:grpSpPr>
          <a:xfrm>
            <a:off x="685800" y="1372003"/>
            <a:ext cx="11215956" cy="2773951"/>
            <a:chOff x="685800" y="1234439"/>
            <a:chExt cx="11215956" cy="2773951"/>
          </a:xfrm>
        </p:grpSpPr>
        <p:sp>
          <p:nvSpPr>
            <p:cNvPr id="5" name="Rounded Rectangle 4"/>
            <p:cNvSpPr/>
            <p:nvPr/>
          </p:nvSpPr>
          <p:spPr>
            <a:xfrm>
              <a:off x="685800" y="1234439"/>
              <a:ext cx="10668000" cy="2773951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 w="15875"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50392" y="1344168"/>
              <a:ext cx="433425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dirty="0">
                  <a:solidFill>
                    <a:srgbClr val="24D2FF"/>
                  </a:solidFill>
                  <a:latin typeface="Malgun Gothic"/>
                </a:rPr>
                <a:t>Profiler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50392" y="1710154"/>
              <a:ext cx="10503408" cy="19841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일반</a:t>
              </a:r>
              <a:r>
                <a:rPr dirty="0"/>
                <a:t> </a:t>
              </a:r>
              <a:r>
                <a:rPr dirty="0" err="1"/>
                <a:t>실행</a:t>
              </a:r>
              <a:r>
                <a:rPr dirty="0"/>
                <a:t> 중 </a:t>
              </a:r>
              <a:r>
                <a:rPr dirty="0" err="1"/>
                <a:t>FPS는</a:t>
              </a:r>
              <a:r>
                <a:rPr dirty="0"/>
                <a:t> 100 </a:t>
              </a:r>
              <a:r>
                <a:rPr dirty="0" err="1"/>
                <a:t>이상으로</a:t>
              </a:r>
              <a:r>
                <a:rPr dirty="0"/>
                <a:t> </a:t>
              </a:r>
              <a:r>
                <a:rPr dirty="0" err="1"/>
                <a:t>안정적으로</a:t>
              </a:r>
              <a:r>
                <a:rPr dirty="0"/>
                <a:t> </a:t>
              </a:r>
              <a:r>
                <a:rPr dirty="0" err="1"/>
                <a:t>유지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그래프</a:t>
              </a:r>
              <a:r>
                <a:rPr dirty="0"/>
                <a:t> </a:t>
              </a:r>
              <a:r>
                <a:rPr dirty="0" err="1"/>
                <a:t>전환</a:t>
              </a:r>
              <a:r>
                <a:rPr dirty="0"/>
                <a:t>, Box </a:t>
              </a:r>
              <a:r>
                <a:rPr dirty="0" err="1"/>
                <a:t>선택</a:t>
              </a:r>
              <a:r>
                <a:rPr dirty="0"/>
                <a:t>, Live View </a:t>
              </a:r>
              <a:r>
                <a:rPr dirty="0" err="1"/>
                <a:t>확대에서</a:t>
              </a:r>
              <a:r>
                <a:rPr dirty="0"/>
                <a:t> 큰 </a:t>
              </a:r>
              <a:r>
                <a:rPr dirty="0" err="1"/>
                <a:t>끊김</a:t>
              </a:r>
              <a:r>
                <a:rPr dirty="0"/>
                <a:t> </a:t>
              </a:r>
              <a:r>
                <a:rPr dirty="0" err="1"/>
                <a:t>없음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Save JSON / Save CSV </a:t>
              </a:r>
              <a:r>
                <a:rPr dirty="0" err="1"/>
                <a:t>클릭</a:t>
              </a:r>
              <a:r>
                <a:rPr dirty="0"/>
                <a:t> 시 CPU spike 및 GC spike </a:t>
              </a:r>
              <a:r>
                <a:rPr dirty="0" err="1"/>
                <a:t>발생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클릭</a:t>
              </a:r>
              <a:r>
                <a:rPr dirty="0"/>
                <a:t> </a:t>
              </a:r>
              <a:r>
                <a:rPr dirty="0" err="1"/>
                <a:t>순간</a:t>
              </a:r>
              <a:r>
                <a:rPr dirty="0"/>
                <a:t> </a:t>
              </a:r>
              <a:r>
                <a:rPr dirty="0" err="1"/>
                <a:t>FPS가</a:t>
              </a:r>
              <a:r>
                <a:rPr dirty="0"/>
                <a:t> </a:t>
              </a:r>
              <a:r>
                <a:rPr dirty="0" err="1"/>
                <a:t>하락한</a:t>
              </a:r>
              <a:r>
                <a:rPr dirty="0"/>
                <a:t> </a:t>
              </a:r>
              <a:r>
                <a:rPr lang="ko-KR" altLang="en-US" dirty="0"/>
                <a:t>후</a:t>
              </a:r>
              <a:r>
                <a:rPr dirty="0"/>
                <a:t> </a:t>
              </a:r>
              <a:r>
                <a:rPr dirty="0" err="1"/>
                <a:t>다시</a:t>
              </a:r>
              <a:r>
                <a:rPr dirty="0"/>
                <a:t> </a:t>
              </a:r>
              <a:r>
                <a:rPr dirty="0" err="1"/>
                <a:t>회복</a:t>
              </a:r>
              <a:endParaRPr dirty="0"/>
            </a:p>
            <a:p>
              <a:pPr>
                <a:lnSpc>
                  <a:spcPct val="15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코루틴</a:t>
              </a:r>
              <a:r>
                <a:rPr dirty="0"/>
                <a:t> </a:t>
              </a:r>
              <a:r>
                <a:rPr dirty="0" err="1"/>
                <a:t>저장</a:t>
              </a:r>
              <a:r>
                <a:rPr dirty="0"/>
                <a:t> </a:t>
              </a:r>
              <a:r>
                <a:rPr dirty="0" err="1"/>
                <a:t>방식은</a:t>
              </a:r>
              <a:r>
                <a:rPr dirty="0"/>
                <a:t> </a:t>
              </a:r>
              <a:r>
                <a:rPr dirty="0" err="1"/>
                <a:t>시간이</a:t>
              </a:r>
              <a:r>
                <a:rPr dirty="0"/>
                <a:t> </a:t>
              </a:r>
              <a:r>
                <a:rPr dirty="0" err="1"/>
                <a:t>갈수록</a:t>
              </a:r>
              <a:r>
                <a:rPr dirty="0"/>
                <a:t> FPS </a:t>
              </a:r>
              <a:r>
                <a:rPr dirty="0" err="1"/>
                <a:t>유지가</a:t>
              </a:r>
              <a:r>
                <a:rPr dirty="0"/>
                <a:t> </a:t>
              </a:r>
              <a:r>
                <a:rPr dirty="0" err="1"/>
                <a:t>어려워</a:t>
              </a:r>
              <a:r>
                <a:rPr dirty="0"/>
                <a:t> </a:t>
              </a:r>
              <a:r>
                <a:rPr dirty="0" err="1"/>
                <a:t>보류</a:t>
              </a:r>
              <a:endParaRPr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506796" y="1344168"/>
              <a:ext cx="4736733" cy="2564285"/>
            </a:xfrm>
            <a:prstGeom prst="roundRect">
              <a:avLst>
                <a:gd name="adj" fmla="val 2000"/>
              </a:avLst>
            </a:prstGeom>
            <a:solidFill>
              <a:srgbClr val="141E2D"/>
            </a:solidFill>
            <a:ln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06796" y="1370811"/>
              <a:ext cx="53949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dirty="0" err="1">
                  <a:solidFill>
                    <a:srgbClr val="BEC9D6"/>
                  </a:solidFill>
                  <a:latin typeface="Malgun Gothic"/>
                </a:rPr>
                <a:t>성능</a:t>
              </a:r>
              <a:r>
                <a:rPr sz="1200" b="1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sz="1200" b="1" dirty="0" err="1">
                  <a:solidFill>
                    <a:srgbClr val="BEC9D6"/>
                  </a:solidFill>
                  <a:latin typeface="Malgun Gothic"/>
                </a:rPr>
                <a:t>검증</a:t>
              </a:r>
              <a:r>
                <a:rPr sz="1200" b="1" dirty="0">
                  <a:solidFill>
                    <a:srgbClr val="BEC9D6"/>
                  </a:solidFill>
                  <a:latin typeface="Malgun Gothic"/>
                </a:rPr>
                <a:t> </a:t>
              </a:r>
              <a:r>
                <a:rPr sz="1200" b="1" dirty="0" err="1">
                  <a:solidFill>
                    <a:srgbClr val="BEC9D6"/>
                  </a:solidFill>
                  <a:latin typeface="Malgun Gothic"/>
                </a:rPr>
                <a:t>화면</a:t>
              </a:r>
              <a:endParaRPr sz="1200" b="1" dirty="0">
                <a:solidFill>
                  <a:srgbClr val="BEC9D6"/>
                </a:solidFill>
                <a:latin typeface="Malgun Gothic"/>
              </a:endParaRP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D7BFEED6-036C-433C-11A4-01E90CC0D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6350"/>
            <a:stretch>
              <a:fillRect/>
            </a:stretch>
          </p:blipFill>
          <p:spPr>
            <a:xfrm>
              <a:off x="7789333" y="1442720"/>
              <a:ext cx="2877807" cy="2368387"/>
            </a:xfrm>
            <a:prstGeom prst="rect">
              <a:avLst/>
            </a:prstGeom>
          </p:spPr>
        </p:pic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4C8BE24-654E-5F51-6E1D-C65254CC52D0}"/>
              </a:ext>
            </a:extLst>
          </p:cNvPr>
          <p:cNvGrpSpPr/>
          <p:nvPr/>
        </p:nvGrpSpPr>
        <p:grpSpPr>
          <a:xfrm>
            <a:off x="685800" y="4400044"/>
            <a:ext cx="10688560" cy="2065492"/>
            <a:chOff x="685800" y="4343400"/>
            <a:chExt cx="10688560" cy="2065492"/>
          </a:xfrm>
        </p:grpSpPr>
        <p:sp>
          <p:nvSpPr>
            <p:cNvPr id="11" name="Rounded Rectangle 10"/>
            <p:cNvSpPr/>
            <p:nvPr/>
          </p:nvSpPr>
          <p:spPr>
            <a:xfrm>
              <a:off x="685800" y="4343400"/>
              <a:ext cx="10688560" cy="2065492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 w="15875"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50392" y="4453127"/>
              <a:ext cx="995781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dirty="0" err="1">
                  <a:solidFill>
                    <a:srgbClr val="4FD696"/>
                  </a:solidFill>
                  <a:latin typeface="Malgun Gothic"/>
                </a:rPr>
                <a:t>최종</a:t>
              </a:r>
              <a:r>
                <a:rPr sz="1600" b="1" dirty="0">
                  <a:solidFill>
                    <a:srgbClr val="4FD696"/>
                  </a:solidFill>
                  <a:latin typeface="Malgun Gothic"/>
                </a:rPr>
                <a:t> </a:t>
              </a:r>
              <a:r>
                <a:rPr sz="1600" b="1" dirty="0" err="1">
                  <a:solidFill>
                    <a:srgbClr val="4FD696"/>
                  </a:solidFill>
                  <a:latin typeface="Malgun Gothic"/>
                </a:rPr>
                <a:t>판단</a:t>
              </a:r>
              <a:endParaRPr sz="1600" b="1" dirty="0">
                <a:solidFill>
                  <a:srgbClr val="4FD696"/>
                </a:solidFill>
                <a:latin typeface="Malgun Gothic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50392" y="4754880"/>
              <a:ext cx="10012680" cy="14190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400"/>
                </a:spcAft>
                <a:defRPr sz="14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</a:t>
              </a:r>
              <a:r>
                <a:rPr lang="ko-KR" altLang="en-US" dirty="0"/>
                <a:t> 병목 원인은 대량 데이터 직렬화</a:t>
              </a:r>
              <a:endParaRPr lang="en-US" altLang="ko-KR" dirty="0"/>
            </a:p>
            <a:p>
              <a:pPr>
                <a:lnSpc>
                  <a:spcPct val="200000"/>
                </a:lnSpc>
                <a:spcAft>
                  <a:spcPts val="400"/>
                </a:spcAft>
                <a:defRPr sz="14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실행과</a:t>
              </a:r>
              <a:r>
                <a:rPr dirty="0"/>
                <a:t> </a:t>
              </a:r>
              <a:r>
                <a:rPr dirty="0" err="1"/>
                <a:t>시각화</a:t>
              </a:r>
              <a:r>
                <a:rPr dirty="0"/>
                <a:t> </a:t>
              </a:r>
              <a:r>
                <a:rPr dirty="0" err="1"/>
                <a:t>목적에는</a:t>
              </a:r>
              <a:r>
                <a:rPr dirty="0"/>
                <a:t> </a:t>
              </a:r>
              <a:r>
                <a:rPr dirty="0" err="1"/>
                <a:t>문제가</a:t>
              </a:r>
              <a:r>
                <a:rPr dirty="0"/>
                <a:t> </a:t>
              </a:r>
              <a:r>
                <a:rPr dirty="0" err="1"/>
                <a:t>없는</a:t>
              </a:r>
              <a:r>
                <a:rPr dirty="0"/>
                <a:t> </a:t>
              </a:r>
              <a:r>
                <a:rPr dirty="0" err="1"/>
                <a:t>범위로</a:t>
              </a:r>
              <a:r>
                <a:rPr dirty="0"/>
                <a:t> </a:t>
              </a:r>
              <a:r>
                <a:rPr dirty="0" err="1"/>
                <a:t>판단</a:t>
              </a:r>
              <a:endParaRPr dirty="0"/>
            </a:p>
            <a:p>
              <a:pPr>
                <a:lnSpc>
                  <a:spcPct val="200000"/>
                </a:lnSpc>
                <a:spcAft>
                  <a:spcPts val="400"/>
                </a:spcAft>
                <a:defRPr sz="14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기준에서는</a:t>
              </a:r>
              <a:r>
                <a:rPr dirty="0"/>
                <a:t> </a:t>
              </a:r>
              <a:r>
                <a:rPr dirty="0" err="1"/>
                <a:t>허용</a:t>
              </a:r>
              <a:r>
                <a:rPr dirty="0"/>
                <a:t> </a:t>
              </a:r>
              <a:r>
                <a:rPr dirty="0" err="1"/>
                <a:t>가능한</a:t>
              </a:r>
              <a:r>
                <a:rPr dirty="0"/>
                <a:t> </a:t>
              </a:r>
              <a:r>
                <a:rPr dirty="0" err="1"/>
                <a:t>issue로</a:t>
              </a:r>
              <a:r>
                <a:rPr dirty="0"/>
                <a:t> </a:t>
              </a:r>
              <a:r>
                <a:rPr dirty="0" err="1"/>
                <a:t>정리</a:t>
              </a:r>
              <a:endParaRPr dirty="0"/>
            </a:p>
          </p:txBody>
        </p:sp>
        <p:sp>
          <p:nvSpPr>
            <p:cNvPr id="20" name="Rounded Rectangle 7">
              <a:extLst>
                <a:ext uri="{FF2B5EF4-FFF2-40B4-BE49-F238E27FC236}">
                  <a16:creationId xmlns:a16="http://schemas.microsoft.com/office/drawing/2014/main" id="{2D89250C-5708-87B3-E169-10016B9EE85C}"/>
                </a:ext>
              </a:extLst>
            </p:cNvPr>
            <p:cNvSpPr/>
            <p:nvPr/>
          </p:nvSpPr>
          <p:spPr>
            <a:xfrm>
              <a:off x="6506796" y="4417113"/>
              <a:ext cx="4736732" cy="1922265"/>
            </a:xfrm>
            <a:prstGeom prst="roundRect">
              <a:avLst>
                <a:gd name="adj" fmla="val 2000"/>
              </a:avLst>
            </a:prstGeom>
            <a:solidFill>
              <a:srgbClr val="141E2D"/>
            </a:solidFill>
            <a:ln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5786F1C-2F49-CA82-581B-C76D9F26A9AE}"/>
              </a:ext>
            </a:extLst>
          </p:cNvPr>
          <p:cNvSpPr txBox="1"/>
          <p:nvPr/>
        </p:nvSpPr>
        <p:spPr>
          <a:xfrm>
            <a:off x="6506796" y="4499942"/>
            <a:ext cx="5796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BEC9D6"/>
                </a:solidFill>
                <a:latin typeface="Malgun Gothic"/>
              </a:rPr>
              <a:t>저장 화면 요약</a:t>
            </a:r>
            <a:endParaRPr sz="1200" b="1" dirty="0">
              <a:solidFill>
                <a:srgbClr val="BEC9D6"/>
              </a:solidFill>
              <a:latin typeface="Malgun Gothic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52D8B2B-0C5E-27AF-F8A4-7B8D0254C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422" y="4825979"/>
            <a:ext cx="4344242" cy="1426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38908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 err="1">
                <a:solidFill>
                  <a:srgbClr val="F5F8FC"/>
                </a:solidFill>
                <a:latin typeface="Malgun Gothic"/>
              </a:rPr>
              <a:t>최종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결과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및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제출</a:t>
            </a:r>
            <a:r>
              <a:rPr sz="2400" b="1" dirty="0">
                <a:solidFill>
                  <a:srgbClr val="F5F8FC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F5F8FC"/>
                </a:solidFill>
                <a:latin typeface="Malgun Gothic"/>
              </a:rPr>
              <a:t>정리</a:t>
            </a:r>
            <a:endParaRPr sz="2400" b="1" dirty="0">
              <a:solidFill>
                <a:srgbClr val="F5F8FC"/>
              </a:solidFill>
              <a:latin typeface="Malgun Gothic"/>
            </a:endParaRPr>
          </a:p>
          <a:p>
            <a:pPr>
              <a:defRPr sz="1000">
                <a:solidFill>
                  <a:srgbClr val="BEC9D6"/>
                </a:solidFill>
                <a:latin typeface="Malgun Gothic"/>
              </a:defRPr>
            </a:pPr>
            <a:r>
              <a:rPr sz="1200" dirty="0" err="1"/>
              <a:t>프로젝트</a:t>
            </a:r>
            <a:r>
              <a:rPr sz="1200" dirty="0"/>
              <a:t> </a:t>
            </a:r>
            <a:r>
              <a:rPr sz="1200" dirty="0" err="1"/>
              <a:t>개요</a:t>
            </a:r>
            <a:r>
              <a:rPr sz="1200" dirty="0"/>
              <a:t> → </a:t>
            </a:r>
            <a:r>
              <a:rPr sz="1200" dirty="0" err="1"/>
              <a:t>기능</a:t>
            </a:r>
            <a:r>
              <a:rPr sz="1200" dirty="0"/>
              <a:t> </a:t>
            </a:r>
            <a:r>
              <a:rPr sz="1200" dirty="0" err="1"/>
              <a:t>설명</a:t>
            </a:r>
            <a:r>
              <a:rPr sz="1200" dirty="0"/>
              <a:t> → </a:t>
            </a:r>
            <a:r>
              <a:rPr sz="1200" dirty="0" err="1"/>
              <a:t>테스트</a:t>
            </a:r>
            <a:r>
              <a:rPr sz="1200" dirty="0"/>
              <a:t> </a:t>
            </a:r>
            <a:r>
              <a:rPr sz="1200" dirty="0" err="1"/>
              <a:t>결과</a:t>
            </a:r>
            <a:r>
              <a:rPr sz="1200" dirty="0"/>
              <a:t> </a:t>
            </a:r>
            <a:r>
              <a:rPr sz="1200" dirty="0" err="1"/>
              <a:t>정리</a:t>
            </a:r>
            <a:r>
              <a:rPr sz="1200" dirty="0"/>
              <a:t> </a:t>
            </a:r>
            <a:r>
              <a:rPr sz="1200" dirty="0" err="1"/>
              <a:t>완료</a:t>
            </a:r>
            <a:endParaRPr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1247120" y="228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BEC9D6"/>
                </a:solidFill>
                <a:latin typeface="Malgun Gothic"/>
              </a:rPr>
              <a:t>10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A1C30FF-A5F1-1D6F-0809-A0CDC0DC8F29}"/>
              </a:ext>
            </a:extLst>
          </p:cNvPr>
          <p:cNvGrpSpPr/>
          <p:nvPr/>
        </p:nvGrpSpPr>
        <p:grpSpPr>
          <a:xfrm>
            <a:off x="640080" y="1340040"/>
            <a:ext cx="10568066" cy="3931920"/>
            <a:chOff x="457200" y="1097280"/>
            <a:chExt cx="10744200" cy="3931920"/>
          </a:xfrm>
        </p:grpSpPr>
        <p:sp>
          <p:nvSpPr>
            <p:cNvPr id="6" name="Rounded Rectangle 5"/>
            <p:cNvSpPr/>
            <p:nvPr/>
          </p:nvSpPr>
          <p:spPr>
            <a:xfrm>
              <a:off x="457200" y="1097280"/>
              <a:ext cx="10744199" cy="3931920"/>
            </a:xfrm>
            <a:prstGeom prst="roundRect">
              <a:avLst>
                <a:gd name="adj" fmla="val 8000"/>
              </a:avLst>
            </a:prstGeom>
            <a:solidFill>
              <a:srgbClr val="192B44"/>
            </a:solidFill>
            <a:ln>
              <a:solidFill>
                <a:srgbClr val="4662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17296" y="1371600"/>
              <a:ext cx="1029266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dirty="0" err="1">
                  <a:solidFill>
                    <a:srgbClr val="24D2FF"/>
                  </a:solidFill>
                  <a:latin typeface="Malgun Gothic"/>
                </a:rPr>
                <a:t>최종</a:t>
              </a:r>
              <a:r>
                <a:rPr sz="2000" b="1" dirty="0">
                  <a:solidFill>
                    <a:srgbClr val="24D2FF"/>
                  </a:solidFill>
                  <a:latin typeface="Malgun Gothic"/>
                </a:rPr>
                <a:t> </a:t>
              </a:r>
              <a:r>
                <a:rPr sz="2000" b="1" dirty="0" err="1">
                  <a:solidFill>
                    <a:srgbClr val="24D2FF"/>
                  </a:solidFill>
                  <a:latin typeface="Malgun Gothic"/>
                </a:rPr>
                <a:t>결론</a:t>
              </a:r>
              <a:endParaRPr sz="2000" b="1" dirty="0">
                <a:solidFill>
                  <a:srgbClr val="24D2FF"/>
                </a:solidFill>
                <a:latin typeface="Malgun Gothic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12099" y="1828800"/>
              <a:ext cx="10489301" cy="2532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16</a:t>
              </a:r>
              <a:r>
                <a:t>개 오브젝트와 </a:t>
              </a:r>
              <a:r>
                <a:rPr dirty="0"/>
                <a:t>600프레임 </a:t>
              </a:r>
              <a:r>
                <a:rPr dirty="0" err="1"/>
                <a:t>이상</a:t>
              </a:r>
              <a:r>
                <a:rPr dirty="0"/>
                <a:t> </a:t>
              </a:r>
              <a:r>
                <a:rPr dirty="0" err="1"/>
                <a:t>기록</a:t>
              </a:r>
              <a:r>
                <a:rPr dirty="0"/>
                <a:t> </a:t>
              </a:r>
              <a:r>
                <a:rPr dirty="0" err="1"/>
                <a:t>구조</a:t>
              </a:r>
              <a:r>
                <a:rPr dirty="0"/>
                <a:t> </a:t>
              </a:r>
              <a:r>
                <a:rPr dirty="0" err="1"/>
                <a:t>구현</a:t>
              </a:r>
              <a:endParaRPr dirty="0"/>
            </a:p>
            <a:p>
              <a:pPr>
                <a:lnSpc>
                  <a:spcPct val="20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Overview / Detail / Focus </a:t>
              </a:r>
              <a:r>
                <a:rPr dirty="0" err="1"/>
                <a:t>그래프</a:t>
              </a:r>
              <a:r>
                <a:rPr dirty="0"/>
                <a:t> </a:t>
              </a:r>
              <a:r>
                <a:rPr dirty="0" err="1"/>
                <a:t>분석</a:t>
              </a:r>
              <a:r>
                <a:rPr dirty="0"/>
                <a:t> UI </a:t>
              </a:r>
              <a:r>
                <a:rPr dirty="0" err="1"/>
                <a:t>완성</a:t>
              </a:r>
              <a:endParaRPr dirty="0"/>
            </a:p>
            <a:p>
              <a:pPr>
                <a:lnSpc>
                  <a:spcPct val="20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JSON / CSV </a:t>
              </a:r>
              <a:r>
                <a:rPr dirty="0" err="1"/>
                <a:t>저장·불러오기</a:t>
              </a:r>
              <a:r>
                <a:rPr dirty="0"/>
                <a:t> 및 </a:t>
              </a:r>
              <a:r>
                <a:rPr dirty="0" err="1"/>
                <a:t>파일</a:t>
              </a:r>
              <a:r>
                <a:rPr dirty="0"/>
                <a:t> </a:t>
              </a:r>
              <a:r>
                <a:rPr dirty="0" err="1"/>
                <a:t>브라우저</a:t>
              </a:r>
              <a:r>
                <a:rPr dirty="0"/>
                <a:t> </a:t>
              </a:r>
              <a:r>
                <a:rPr dirty="0" err="1"/>
                <a:t>지원</a:t>
              </a:r>
              <a:endParaRPr dirty="0"/>
            </a:p>
            <a:p>
              <a:pPr>
                <a:lnSpc>
                  <a:spcPct val="20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일반</a:t>
              </a:r>
              <a:r>
                <a:rPr dirty="0"/>
                <a:t> </a:t>
              </a:r>
              <a:r>
                <a:rPr dirty="0" err="1"/>
                <a:t>실행</a:t>
              </a:r>
              <a:r>
                <a:rPr dirty="0"/>
                <a:t> </a:t>
              </a:r>
              <a:r>
                <a:rPr dirty="0" err="1"/>
                <a:t>안정</a:t>
              </a:r>
              <a:r>
                <a:rPr dirty="0"/>
                <a:t>, </a:t>
              </a:r>
              <a:r>
                <a:rPr dirty="0" err="1"/>
                <a:t>저장</a:t>
              </a:r>
              <a:r>
                <a:rPr dirty="0"/>
                <a:t> 시 </a:t>
              </a:r>
              <a:r>
                <a:rPr dirty="0" err="1"/>
                <a:t>순간</a:t>
              </a:r>
              <a:r>
                <a:rPr dirty="0"/>
                <a:t> </a:t>
              </a:r>
              <a:r>
                <a:rPr dirty="0" err="1"/>
                <a:t>병목만</a:t>
              </a:r>
              <a:r>
                <a:rPr dirty="0"/>
                <a:t> </a:t>
              </a:r>
              <a:r>
                <a:rPr dirty="0" err="1"/>
                <a:t>잔여</a:t>
              </a:r>
              <a:r>
                <a:rPr dirty="0"/>
                <a:t> </a:t>
              </a:r>
              <a:r>
                <a:rPr dirty="0" err="1"/>
                <a:t>이슈</a:t>
              </a:r>
              <a:endParaRPr dirty="0"/>
            </a:p>
            <a:p>
              <a:pPr>
                <a:lnSpc>
                  <a:spcPct val="200000"/>
                </a:lnSpc>
                <a:spcAft>
                  <a:spcPts val="400"/>
                </a:spcAft>
                <a:defRPr sz="1500">
                  <a:solidFill>
                    <a:srgbClr val="F5F8FC"/>
                  </a:solidFill>
                  <a:latin typeface="Malgun Gothic"/>
                </a:defRPr>
              </a:pPr>
              <a:r>
                <a:rPr dirty="0"/>
                <a:t>• </a:t>
              </a:r>
              <a:r>
                <a:rPr dirty="0" err="1"/>
                <a:t>빌드</a:t>
              </a:r>
              <a:r>
                <a:rPr dirty="0"/>
                <a:t> </a:t>
              </a:r>
              <a:r>
                <a:rPr dirty="0" err="1"/>
                <a:t>완료</a:t>
              </a:r>
              <a:r>
                <a:rPr dirty="0"/>
                <a:t> 및 </a:t>
              </a:r>
              <a:r>
                <a:rPr dirty="0" err="1"/>
                <a:t>제출</a:t>
              </a:r>
              <a:r>
                <a:rPr dirty="0"/>
                <a:t> 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40080" y="5554372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4FD696"/>
                </a:solidFill>
                <a:latin typeface="Malgun Gothic"/>
              </a:rPr>
              <a:t>요약 제출</a:t>
            </a:r>
            <a:endParaRPr sz="2000" b="1" dirty="0">
              <a:solidFill>
                <a:srgbClr val="4FD696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59658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BEC9D6"/>
                </a:solidFill>
                <a:latin typeface="Malgun Gothic"/>
              </a:rPr>
              <a:t>제출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BEC9D6"/>
                </a:solidFill>
                <a:latin typeface="Malgun Gothic"/>
              </a:rPr>
              <a:t>패키지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: </a:t>
            </a:r>
            <a:r>
              <a:rPr sz="1400" b="0" dirty="0" err="1">
                <a:solidFill>
                  <a:srgbClr val="BEC9D6"/>
                </a:solidFill>
                <a:latin typeface="Malgun Gothic"/>
              </a:rPr>
              <a:t>소스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BEC9D6"/>
                </a:solidFill>
                <a:latin typeface="Malgun Gothic"/>
              </a:rPr>
              <a:t>코드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 · </a:t>
            </a:r>
            <a:r>
              <a:rPr sz="1400" b="0" dirty="0" err="1">
                <a:solidFill>
                  <a:srgbClr val="BEC9D6"/>
                </a:solidFill>
                <a:latin typeface="Malgun Gothic"/>
              </a:rPr>
              <a:t>실행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BEC9D6"/>
                </a:solidFill>
                <a:latin typeface="Malgun Gothic"/>
              </a:rPr>
              <a:t>캡처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 · </a:t>
            </a:r>
            <a:r>
              <a:rPr sz="1400" b="0" dirty="0" err="1">
                <a:solidFill>
                  <a:srgbClr val="BEC9D6"/>
                </a:solidFill>
                <a:latin typeface="Malgun Gothic"/>
              </a:rPr>
              <a:t>샘플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 JSON/CSV · </a:t>
            </a:r>
            <a:r>
              <a:rPr sz="1400" b="0" dirty="0" err="1">
                <a:solidFill>
                  <a:srgbClr val="BEC9D6"/>
                </a:solidFill>
                <a:latin typeface="Malgun Gothic"/>
              </a:rPr>
              <a:t>최종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 Docs · </a:t>
            </a:r>
            <a:r>
              <a:rPr sz="1400" b="0" dirty="0" err="1">
                <a:solidFill>
                  <a:srgbClr val="BEC9D6"/>
                </a:solidFill>
                <a:latin typeface="Malgun Gothic"/>
              </a:rPr>
              <a:t>최종</a:t>
            </a:r>
            <a:r>
              <a:rPr sz="1400" b="0" dirty="0">
                <a:solidFill>
                  <a:srgbClr val="BEC9D6"/>
                </a:solidFill>
                <a:latin typeface="Malgun Gothic"/>
              </a:rPr>
              <a:t> PPT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DBF2E65-3F01-F4DB-7451-2F47BB467BFD}"/>
              </a:ext>
            </a:extLst>
          </p:cNvPr>
          <p:cNvSpPr/>
          <p:nvPr/>
        </p:nvSpPr>
        <p:spPr>
          <a:xfrm>
            <a:off x="457200" y="949960"/>
            <a:ext cx="11155680" cy="45720"/>
          </a:xfrm>
          <a:prstGeom prst="rect">
            <a:avLst/>
          </a:prstGeom>
          <a:solidFill>
            <a:srgbClr val="2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808</Words>
  <Application>Microsoft Office PowerPoint</Application>
  <PresentationFormat>와이드스크린</PresentationFormat>
  <Paragraphs>159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Malgun Gothic</vt:lpstr>
      <vt:lpstr>Malgun Gothic</vt:lpstr>
      <vt:lpstr>Aptos</vt:lpstr>
      <vt:lpstr>Aptos Display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성엽 김</cp:lastModifiedBy>
  <cp:revision>9</cp:revision>
  <dcterms:created xsi:type="dcterms:W3CDTF">2013-01-27T09:14:16Z</dcterms:created>
  <dcterms:modified xsi:type="dcterms:W3CDTF">2026-04-22T05:33:53Z</dcterms:modified>
  <cp:category/>
</cp:coreProperties>
</file>